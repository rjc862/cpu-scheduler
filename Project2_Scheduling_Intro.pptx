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1" r:id="rId9"/>
    <p:sldId id="262" r:id="rId10"/>
    <p:sldId id="268" r:id="rId16"/>
    <p:sldId id="263" r:id="rId11"/>
    <p:sldId id="264" r:id="rId12"/>
    <p:sldId id="265" r:id="rId13"/>
    <p:sldId id="260" r:id="rId8"/>
    <p:sldId id="266" r:id="rId14"/>
    <p:sldId id="267" r:id="rId15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68790AC-2254-4F9D-B101-07CB140D0E6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Opening line: In this project, given a stream of jobs, we will figure out how they finish based on different scheduling policies.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28D351-E286-46C1-B404-BD2FEA842C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Say this once, plainly, and move 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136387-FA35-4995-B666-F62CC7CF27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Read the sentence as written. The next two slides take the two highlighted terms in turn.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DFD596-9FCB-4E0B-B619-5B86C411B5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Green in at the top from the trace, amber back in at the bottom from their code. Those are the only two ways an event gets into the queue.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BD4921-69C5-4B2B-9A38-C4CBEDB2DC2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Up when an event is picked up, flat while their code runs. The dashed line at 4 is never touched.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0FEA93-8FED-46CD-B89D-34947196BA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Left, the jobs. Middle, the one thing the simulator cannot decide. Right, the answer the project wants.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369D25-FB3A-4A53-B541-FC214AE8D9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One line each. Do not open up MLFQ here.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64F297-84EE-48EF-A195-470193F07F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One slide for the whole contract: the file in, the run, the file out. The colours tie the three together.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99D435-3857-4137-9E0E-91810567C44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Spend a minute here. This is the shift that makes the rest of the project readable.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421F06-A3B1-4C28-83A2-23EAB8FCE9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two highlighted lines are the whole mechanism: assign the clock, call the function the event carries.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E7D227-5A9A-4A42-9593-FAECC0F498A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Two events, two of your functions. The provided plumbing between them is not worth their attention here.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2CC85C-B50F-4DB0-90FF-DE32EFE35E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distinction is worth a full minute.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EFA88C-09F3-4439-AB1D-F77BA0FBBD4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Start with the linked list: the simulator builds its own event queue from it, so nothing works until it is right.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BD9781-9BC0-4FB1-AB6D-82473F1259B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Stress that they never call these themselves, and that the names follow the file.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BCEA73-2EC3-403A-9CF7-0F94DE4E0E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slide is the demarcation: four functions they write, two they call, nothing else.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1B98F0-04A6-417A-A34B-842D0879C2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Read the middle column aloud. Six rows is the entire program.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BA2B16-6E74-4A5C-8CBE-A0D1A7020C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Short stop. Four ideas, then straight into the animation.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3DA072-3E0D-43FD-9EF4-E8F5E77550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Seven clicks. At t=1 job 2 arrives and takes the CPU from job 1, which is now at level 1. At t=5 job 3 does the same and finishes immediately. Job 1 keeps sinking.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D4AFFF-30FB-4AC3-9019-DCFE22DEF2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Read these out.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5149B0-BDE1-450D-B194-2ABDE114D9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Run these three commands live. Also mention make test, which runs everything.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2851D2-591B-4285-88B2-AD2B53D5BD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Close the way you opened: the README is the authority.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60E944-1078-4D34-A18C-C5AD6CEAE3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1051560" y="23317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alibri"/>
                <a:ea typeface="Calibri"/>
              </a:rPr>
              <a:t>CMPSC 473, Fall 2026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1051560" y="2743200"/>
            <a:ext cx="9143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a2acb6"/>
                </a:solidFill>
                <a:latin typeface="Trebuchet MS"/>
                <a:ea typeface="Trebuchet MS"/>
              </a:rPr>
              <a:t>Project 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1051560" y="32918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5f7fa"/>
                </a:solidFill>
                <a:latin typeface="Trebuchet MS"/>
                <a:ea typeface="Trebuchet MS"/>
              </a:rPr>
              <a:t>simulatorlab: Scheduling Policies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731520" y="54864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Before we start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731520" y="210312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3801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f5f7fa"/>
                </a:solidFill>
                <a:latin typeface="Calibri"/>
                <a:ea typeface="Calibri"/>
              </a:rPr>
              <a:t>This presentation is meant to help you get started.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731520" y="301752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33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a2acb6"/>
                </a:solidFill>
                <a:latin typeface="Calibri"/>
                <a:ea typeface="Calibri"/>
              </a:rPr>
              <a:t>The README has the complete specification. Read it before you write code.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731520" y="54864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What this project is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0" name="Line 1"/>
          <p:cNvSpPr/>
          <p:nvPr/>
        </p:nvSpPr>
        <p:spPr>
          <a:xfrm>
            <a:off x="731520" y="1440000"/>
            <a:ext cx="10698120" cy="4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3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In this assignment we start with a </a:t>
            </a:r>
            <a:r>
              <a:rPr b="1" lang="en-US" sz="2200" spc="-1" strike="noStrike">
                <a:solidFill>
                  <a:srgbClr val="f0a93b"/>
                </a:solidFill>
                <a:latin typeface="Calibri"/>
                <a:ea typeface="Calibri"/>
              </a:rPr>
              <a:t>discrete event simulator</a:t>
            </a: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" name="Line 2"/>
          <p:cNvSpPr/>
          <p:nvPr/>
        </p:nvSpPr>
        <p:spPr>
          <a:xfrm>
            <a:off x="731520" y="1900000"/>
            <a:ext cx="10698120" cy="4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3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It reads an </a:t>
            </a:r>
            <a:r>
              <a:rPr b="1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input file</a:t>
            </a: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 describing a set of jobs.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" name="Line 3"/>
          <p:cNvSpPr/>
          <p:nvPr/>
        </p:nvSpPr>
        <p:spPr>
          <a:xfrm>
            <a:off x="731520" y="2360000"/>
            <a:ext cx="10698120" cy="4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3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Each job shows up at a given time and needs the CPU for a given length of time.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" name="Line 4"/>
          <p:cNvSpPr/>
          <p:nvPr/>
        </p:nvSpPr>
        <p:spPr>
          <a:xfrm>
            <a:off x="731520" y="2820000"/>
            <a:ext cx="10698120" cy="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3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A </a:t>
            </a:r>
            <a:r>
              <a:rPr b="1" lang="en-US" sz="2200" spc="-1" strike="noStrike">
                <a:solidFill>
                  <a:srgbClr val="f0a93b"/>
                </a:solidFill>
                <a:latin typeface="Calibri"/>
                <a:ea typeface="Calibri"/>
              </a:rPr>
              <a:t>scheduler</a:t>
            </a:r>
            <a:r>
              <a:rPr b="0" lang="en-US" sz="2200" spc="-1" strike="noStrike">
                <a:solidFill>
                  <a:srgbClr val="f5f7fa"/>
                </a:solidFill>
                <a:latin typeface="Calibri"/>
                <a:ea typeface="Calibri"/>
              </a:rPr>
              <a:t> decides the order those jobs run in. You implement four of them, and the simulator works out when each job ends.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731520" y="3760000"/>
            <a:ext cx="2468520" cy="132552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3"/>
          <p:cNvSpPr/>
          <p:nvPr/>
        </p:nvSpPr>
        <p:spPr>
          <a:xfrm>
            <a:off x="914400" y="394288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5f7fa"/>
                </a:solidFill>
                <a:latin typeface="Trebuchet MS"/>
                <a:ea typeface="Trebuchet MS"/>
              </a:rPr>
              <a:t>an input file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914400" y="432700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when each job shows up, and how long it needs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3337560" y="4418080"/>
            <a:ext cx="502920" cy="36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6"/>
          <p:cNvSpPr/>
          <p:nvPr/>
        </p:nvSpPr>
        <p:spPr>
          <a:xfrm>
            <a:off x="3931920" y="3760000"/>
            <a:ext cx="2239920" cy="132552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7"/>
          <p:cNvSpPr/>
          <p:nvPr/>
        </p:nvSpPr>
        <p:spPr>
          <a:xfrm>
            <a:off x="4114800" y="39428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a93b"/>
                </a:solidFill>
                <a:latin typeface="Trebuchet MS"/>
                <a:ea typeface="Trebuchet MS"/>
              </a:rPr>
              <a:t>simulator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114800" y="432700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runs the jobs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172200" y="42172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a2acb6"/>
                </a:solidFill>
                <a:latin typeface="Trebuchet MS"/>
                <a:ea typeface="Trebuchet MS"/>
              </a:rPr>
              <a:t>+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6675120" y="3760000"/>
            <a:ext cx="2239920" cy="132552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1"/>
          <p:cNvSpPr/>
          <p:nvPr/>
        </p:nvSpPr>
        <p:spPr>
          <a:xfrm>
            <a:off x="6858000" y="39428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a93b"/>
                </a:solidFill>
                <a:latin typeface="Trebuchet MS"/>
                <a:ea typeface="Trebuchet MS"/>
              </a:rPr>
              <a:t>scheduler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6858000" y="432700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decides the order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9052560" y="4418080"/>
            <a:ext cx="502920" cy="36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4"/>
          <p:cNvSpPr/>
          <p:nvPr/>
        </p:nvSpPr>
        <p:spPr>
          <a:xfrm>
            <a:off x="9646920" y="3760000"/>
            <a:ext cx="1828440" cy="1325520"/>
          </a:xfrm>
          <a:prstGeom prst="rect">
            <a:avLst/>
          </a:prstGeom>
          <a:solidFill>
            <a:srgbClr val="212429"/>
          </a:solidFill>
          <a:ln w="25400">
            <a:solidFill>
              <a:srgbClr val="7bc9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5"/>
          <p:cNvSpPr/>
          <p:nvPr/>
        </p:nvSpPr>
        <p:spPr>
          <a:xfrm>
            <a:off x="9829800" y="394288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7bc96f"/>
                </a:solidFill>
                <a:latin typeface="Trebuchet MS"/>
                <a:ea typeface="Trebuchet MS"/>
              </a:rPr>
              <a:t>an output file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9829800" y="432700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when each job ended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731520" y="628000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Everything in that picture except the scheduler is provided for you.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" name="Shape Format"/>
          <p:cNvSpPr/>
          <p:nvPr/>
        </p:nvSpPr>
        <p:spPr>
          <a:xfrm>
            <a:off x="731520" y="5200000"/>
            <a:ext cx="2900000" cy="99000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Format Caption"/>
          <p:cNvSpPr/>
          <p:nvPr/>
        </p:nvSpPr>
        <p:spPr>
          <a:xfrm>
            <a:off x="914400" y="5270000"/>
            <a:ext cx="2540000" cy="1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2acb6"/>
                </a:solidFill>
                <a:latin typeface="Calibri"/>
                <a:ea typeface="Calibri"/>
              </a:rPr>
              <a:t>input file: one line per job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" name="Text Format Rows"/>
          <p:cNvSpPr/>
          <p:nvPr/>
        </p:nvSpPr>
        <p:spPr>
          <a:xfrm>
            <a:off x="914400" y="5450000"/>
            <a:ext cx="2540000" cy="7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onsolas"/>
                <a:ea typeface="Consolas"/>
              </a:rPr>
              <a:t>job_id,arrival_time,job_size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onsolas"/>
                <a:ea typeface="Consolas"/>
              </a:rPr>
              <a:t>1,0,3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onsolas"/>
                <a:ea typeface="Consolas"/>
              </a:rPr>
              <a:t>2,1,1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f7fa"/>
                </a:solidFill>
                <a:latin typeface="Consolas"/>
                <a:ea typeface="Consolas"/>
              </a:rPr>
              <a:t>3,2,2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731520" y="54864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How the simulator works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731520" y="12254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Two things add events. The simulator takes the earliest event and calls a function in your scheduler.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731520" y="1965960"/>
            <a:ext cx="2834280" cy="712800"/>
          </a:xfrm>
          <a:prstGeom prst="rect">
            <a:avLst/>
          </a:prstGeom>
          <a:solidFill>
            <a:srgbClr val="212429"/>
          </a:solidFill>
          <a:ln w="25400">
            <a:solidFill>
              <a:srgbClr val="7bc9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3"/>
          <p:cNvSpPr/>
          <p:nvPr/>
        </p:nvSpPr>
        <p:spPr>
          <a:xfrm>
            <a:off x="914400" y="20300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7bc96f"/>
                </a:solidFill>
                <a:latin typeface="Trebuchet MS"/>
                <a:ea typeface="Trebuchet MS"/>
              </a:rPr>
              <a:t>the trace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914400" y="23317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reads the input file, one job at a time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2148840" y="2697480"/>
            <a:ext cx="360" cy="383760"/>
          </a:xfrm>
          <a:prstGeom prst="line">
            <a:avLst/>
          </a:prstGeom>
          <a:ln w="25400">
            <a:solidFill>
              <a:srgbClr val="7bc9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6"/>
          <p:cNvSpPr/>
          <p:nvPr/>
        </p:nvSpPr>
        <p:spPr>
          <a:xfrm>
            <a:off x="2331720" y="27432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c96f"/>
                </a:solidFill>
                <a:latin typeface="Calibri"/>
                <a:ea typeface="Calibri"/>
              </a:rPr>
              <a:t>adds an arrival event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731520" y="3154680"/>
            <a:ext cx="2834280" cy="191988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8"/>
          <p:cNvSpPr/>
          <p:nvPr/>
        </p:nvSpPr>
        <p:spPr>
          <a:xfrm>
            <a:off x="960120" y="3255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the event queue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960120" y="3511440"/>
            <a:ext cx="2377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47e"/>
                </a:solidFill>
                <a:latin typeface="Calibri"/>
                <a:ea typeface="Calibri"/>
              </a:rPr>
              <a:t>sorted by time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960120" y="3840480"/>
            <a:ext cx="2377080" cy="511560"/>
          </a:xfrm>
          <a:prstGeom prst="rect">
            <a:avLst/>
          </a:prstGeom>
          <a:solidFill>
            <a:srgbClr val="1a1d22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1"/>
          <p:cNvSpPr/>
          <p:nvPr/>
        </p:nvSpPr>
        <p:spPr>
          <a:xfrm>
            <a:off x="1097280" y="384048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a93b"/>
                </a:solidFill>
                <a:latin typeface="Consolas"/>
                <a:ea typeface="Consolas"/>
              </a:rPr>
              <a:t>completion @ 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960120" y="4434840"/>
            <a:ext cx="2377080" cy="511560"/>
          </a:xfrm>
          <a:prstGeom prst="rect">
            <a:avLst/>
          </a:prstGeom>
          <a:solidFill>
            <a:srgbClr val="1a1d22"/>
          </a:solidFill>
          <a:ln w="25400">
            <a:solidFill>
              <a:srgbClr val="7bc9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13"/>
          <p:cNvSpPr/>
          <p:nvPr/>
        </p:nvSpPr>
        <p:spPr>
          <a:xfrm>
            <a:off x="1097280" y="443484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bc96f"/>
                </a:solidFill>
                <a:latin typeface="Consolas"/>
                <a:ea typeface="Consolas"/>
              </a:rPr>
              <a:t>arrival @ 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960120" y="36576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a93b"/>
                </a:solidFill>
                <a:latin typeface="Calibri"/>
                <a:ea typeface="Calibri"/>
              </a:rPr>
              <a:t>next up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3703320" y="4096440"/>
            <a:ext cx="502920" cy="36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6"/>
          <p:cNvSpPr/>
          <p:nvPr/>
        </p:nvSpPr>
        <p:spPr>
          <a:xfrm>
            <a:off x="3630240" y="3822120"/>
            <a:ext cx="731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2acb6"/>
                </a:solidFill>
                <a:latin typeface="Calibri"/>
                <a:ea typeface="Calibri"/>
              </a:rPr>
              <a:t>earliest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4297680" y="2971800"/>
            <a:ext cx="2925720" cy="1919880"/>
          </a:xfrm>
          <a:prstGeom prst="rect">
            <a:avLst/>
          </a:prstGeom>
          <a:solidFill>
            <a:srgbClr val="212429"/>
          </a:solidFill>
          <a:ln w="25400">
            <a:solidFill>
              <a:srgbClr val="a2ac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8"/>
          <p:cNvSpPr/>
          <p:nvPr/>
        </p:nvSpPr>
        <p:spPr>
          <a:xfrm>
            <a:off x="4480560" y="31273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the simulator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4526280" y="3566160"/>
            <a:ext cx="24685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takes the earliest event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sets the clock to its time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calls the function it carries,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which is called its callback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7360920" y="4096440"/>
            <a:ext cx="502920" cy="36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1"/>
          <p:cNvSpPr/>
          <p:nvPr/>
        </p:nvSpPr>
        <p:spPr>
          <a:xfrm>
            <a:off x="7287840" y="4260960"/>
            <a:ext cx="731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2acb6"/>
                </a:solidFill>
                <a:latin typeface="Calibri"/>
                <a:ea typeface="Calibri"/>
              </a:rPr>
              <a:t>calls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8001000" y="2971800"/>
            <a:ext cx="3428640" cy="191988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23"/>
          <p:cNvSpPr/>
          <p:nvPr/>
        </p:nvSpPr>
        <p:spPr>
          <a:xfrm>
            <a:off x="8183880" y="31273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0a93b"/>
                </a:solidFill>
                <a:latin typeface="Trebuchet MS"/>
                <a:ea typeface="Trebuchet MS"/>
              </a:rPr>
              <a:t>your scheduler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8229600" y="370332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bc96f"/>
                </a:solidFill>
                <a:latin typeface="Calibri"/>
                <a:ea typeface="Calibri"/>
              </a:rPr>
              <a:t>arrival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9372600" y="370332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f7fa"/>
                </a:solidFill>
                <a:latin typeface="Consolas"/>
                <a:ea typeface="Consolas"/>
              </a:rPr>
              <a:t>ScheduleJob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Text 26"/>
          <p:cNvSpPr/>
          <p:nvPr/>
        </p:nvSpPr>
        <p:spPr>
          <a:xfrm>
            <a:off x="8229600" y="42246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a93b"/>
                </a:solidFill>
                <a:latin typeface="Calibri"/>
                <a:ea typeface="Calibri"/>
              </a:rPr>
              <a:t>completion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9372600" y="42246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f7fa"/>
                </a:solidFill>
                <a:latin typeface="Consolas"/>
                <a:ea typeface="Consolas"/>
              </a:rPr>
              <a:t>CompleteJob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9692640" y="4892040"/>
            <a:ext cx="360" cy="548640"/>
          </a:xfrm>
          <a:prstGeom prst="line">
            <a:avLst/>
          </a:prstGeom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29"/>
          <p:cNvSpPr/>
          <p:nvPr/>
        </p:nvSpPr>
        <p:spPr>
          <a:xfrm>
            <a:off x="2148840" y="5440680"/>
            <a:ext cx="7543800" cy="360"/>
          </a:xfrm>
          <a:prstGeom prst="line">
            <a:avLst/>
          </a:prstGeom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30"/>
          <p:cNvSpPr/>
          <p:nvPr/>
        </p:nvSpPr>
        <p:spPr>
          <a:xfrm>
            <a:off x="2148840" y="5074920"/>
            <a:ext cx="360" cy="365760"/>
          </a:xfrm>
          <a:prstGeom prst="line">
            <a:avLst/>
          </a:prstGeom>
          <a:ln w="25400">
            <a:solidFill>
              <a:srgbClr val="f0a93b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31"/>
          <p:cNvSpPr/>
          <p:nvPr/>
        </p:nvSpPr>
        <p:spPr>
          <a:xfrm>
            <a:off x="3931920" y="54864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a93b"/>
                </a:solidFill>
                <a:latin typeface="Calibri"/>
                <a:ea typeface="Calibri"/>
              </a:rPr>
              <a:t>adds a completion event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" name="Text 32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Those are the only two things that add events to the queue.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How the code runs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What simulator time actually does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Three jobs arrive and run. These are the six moments the simulator stops at.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2066400" y="2157840"/>
            <a:ext cx="360" cy="2871360"/>
          </a:xfrm>
          <a:prstGeom prst="line">
            <a:avLst/>
          </a:prstGeom>
          <a:ln w="25400">
            <a:solidFill>
              <a:srgbClr val="3a40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4"/>
          <p:cNvSpPr/>
          <p:nvPr/>
        </p:nvSpPr>
        <p:spPr>
          <a:xfrm>
            <a:off x="2066400" y="4937760"/>
            <a:ext cx="9537120" cy="360"/>
          </a:xfrm>
          <a:prstGeom prst="line">
            <a:avLst/>
          </a:prstGeom>
          <a:ln w="25400">
            <a:solidFill>
              <a:srgbClr val="3a404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5"/>
          <p:cNvSpPr/>
          <p:nvPr/>
        </p:nvSpPr>
        <p:spPr>
          <a:xfrm>
            <a:off x="2066400" y="2697480"/>
            <a:ext cx="7600000" cy="360"/>
          </a:xfrm>
          <a:prstGeom prst="line">
            <a:avLst/>
          </a:prstGeom>
          <a:ln w="12700">
            <a:solidFill>
              <a:srgbClr val="343a4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6"/>
          <p:cNvSpPr/>
          <p:nvPr/>
        </p:nvSpPr>
        <p:spPr>
          <a:xfrm>
            <a:off x="1353240" y="47916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1353240" y="43434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1353240" y="3895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1353240" y="34473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1353240" y="29991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058"/>
                </a:solidFill>
                <a:latin typeface="Consolas"/>
                <a:ea typeface="Consolas"/>
              </a:rPr>
              <a:t>4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1353240" y="255132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1353240" y="210312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6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731520" y="2194560"/>
            <a:ext cx="1279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simulator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time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2194560" y="4937760"/>
            <a:ext cx="1536120" cy="36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15"/>
          <p:cNvSpPr/>
          <p:nvPr/>
        </p:nvSpPr>
        <p:spPr>
          <a:xfrm>
            <a:off x="2112120" y="4855320"/>
            <a:ext cx="164160" cy="16416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6"/>
          <p:cNvSpPr/>
          <p:nvPr/>
        </p:nvSpPr>
        <p:spPr>
          <a:xfrm>
            <a:off x="1591200" y="5083920"/>
            <a:ext cx="1206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job 1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arrives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3730680" y="4489560"/>
            <a:ext cx="360" cy="44820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hape 18"/>
          <p:cNvSpPr/>
          <p:nvPr/>
        </p:nvSpPr>
        <p:spPr>
          <a:xfrm>
            <a:off x="3730680" y="4489560"/>
            <a:ext cx="1536120" cy="36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9"/>
          <p:cNvSpPr/>
          <p:nvPr/>
        </p:nvSpPr>
        <p:spPr>
          <a:xfrm>
            <a:off x="3648600" y="4407480"/>
            <a:ext cx="164160" cy="16416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0"/>
          <p:cNvSpPr/>
          <p:nvPr/>
        </p:nvSpPr>
        <p:spPr>
          <a:xfrm>
            <a:off x="3127320" y="5083920"/>
            <a:ext cx="1206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job 2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arrives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5266800" y="4041360"/>
            <a:ext cx="360" cy="44820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22"/>
          <p:cNvSpPr/>
          <p:nvPr/>
        </p:nvSpPr>
        <p:spPr>
          <a:xfrm>
            <a:off x="5266800" y="4041360"/>
            <a:ext cx="1536120" cy="36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3"/>
          <p:cNvSpPr/>
          <p:nvPr/>
        </p:nvSpPr>
        <p:spPr>
          <a:xfrm>
            <a:off x="5184720" y="3959280"/>
            <a:ext cx="164160" cy="16416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4"/>
          <p:cNvSpPr/>
          <p:nvPr/>
        </p:nvSpPr>
        <p:spPr>
          <a:xfrm>
            <a:off x="4663440" y="5083920"/>
            <a:ext cx="1206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job 3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arrives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7" name="Shape 25"/>
          <p:cNvSpPr/>
          <p:nvPr/>
        </p:nvSpPr>
        <p:spPr>
          <a:xfrm>
            <a:off x="6802920" y="3593520"/>
            <a:ext cx="360" cy="44784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26"/>
          <p:cNvSpPr/>
          <p:nvPr/>
        </p:nvSpPr>
        <p:spPr>
          <a:xfrm>
            <a:off x="6802920" y="3593520"/>
            <a:ext cx="1536120" cy="36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7"/>
          <p:cNvSpPr/>
          <p:nvPr/>
        </p:nvSpPr>
        <p:spPr>
          <a:xfrm>
            <a:off x="6720840" y="3511440"/>
            <a:ext cx="164160" cy="16416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8"/>
          <p:cNvSpPr/>
          <p:nvPr/>
        </p:nvSpPr>
        <p:spPr>
          <a:xfrm>
            <a:off x="6199560" y="5083920"/>
            <a:ext cx="1206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job 1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finishes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1" name="Shape 29"/>
          <p:cNvSpPr/>
          <p:nvPr/>
        </p:nvSpPr>
        <p:spPr>
          <a:xfrm>
            <a:off x="8339040" y="3145320"/>
            <a:ext cx="360" cy="44820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30"/>
          <p:cNvSpPr/>
          <p:nvPr/>
        </p:nvSpPr>
        <p:spPr>
          <a:xfrm>
            <a:off x="8339040" y="3145320"/>
            <a:ext cx="1536480" cy="36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1"/>
          <p:cNvSpPr/>
          <p:nvPr/>
        </p:nvSpPr>
        <p:spPr>
          <a:xfrm>
            <a:off x="8256960" y="3063240"/>
            <a:ext cx="164160" cy="16416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2"/>
          <p:cNvSpPr/>
          <p:nvPr/>
        </p:nvSpPr>
        <p:spPr>
          <a:xfrm>
            <a:off x="7735680" y="5083920"/>
            <a:ext cx="1206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job 2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finishes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5" name="Shape 33"/>
          <p:cNvSpPr/>
          <p:nvPr/>
        </p:nvSpPr>
        <p:spPr>
          <a:xfrm>
            <a:off x="9875520" y="2249280"/>
            <a:ext cx="360" cy="89604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34"/>
          <p:cNvSpPr/>
          <p:nvPr/>
        </p:nvSpPr>
        <p:spPr>
          <a:xfrm>
            <a:off x="9875520" y="2249280"/>
            <a:ext cx="1536120" cy="360"/>
          </a:xfrm>
          <a:prstGeom prst="line">
            <a:avLst/>
          </a:prstGeom>
          <a:ln w="508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35"/>
          <p:cNvSpPr/>
          <p:nvPr/>
        </p:nvSpPr>
        <p:spPr>
          <a:xfrm>
            <a:off x="9793080" y="2167200"/>
            <a:ext cx="164160" cy="16416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36"/>
          <p:cNvSpPr/>
          <p:nvPr/>
        </p:nvSpPr>
        <p:spPr>
          <a:xfrm>
            <a:off x="9272160" y="5083920"/>
            <a:ext cx="1206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job 3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alibri"/>
                <a:ea typeface="Calibri"/>
              </a:rPr>
              <a:t>finishes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2304360" y="457200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starts at 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1" name="Text 39"/>
          <p:cNvSpPr/>
          <p:nvPr/>
        </p:nvSpPr>
        <p:spPr>
          <a:xfrm>
            <a:off x="4000000" y="2750000"/>
            <a:ext cx="4000000" cy="4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a93b"/>
                </a:solidFill>
                <a:latin typeface="Calibri"/>
                <a:ea typeface="Calibri"/>
              </a:rPr>
              <a:t>5 is never reached: the clock goes straight from 4 to 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2" name="Text 40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Nothing waits. A job needing 3 units of CPU does not take 3 units of anything real.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731520" y="54864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The scheduling policy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731520" y="12254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The simulator runs one job at a time. It does not decide which job that should be. The policy does.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731520" y="21488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jobs arrive over time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731520" y="2560320"/>
            <a:ext cx="3108600" cy="54828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4"/>
          <p:cNvSpPr/>
          <p:nvPr/>
        </p:nvSpPr>
        <p:spPr>
          <a:xfrm>
            <a:off x="960120" y="25603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a93b"/>
                </a:solidFill>
                <a:latin typeface="Trebuchet MS"/>
                <a:ea typeface="Trebuchet MS"/>
              </a:rPr>
              <a:t>job 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1920240" y="25603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arrives 0, needs 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731520" y="3246120"/>
            <a:ext cx="3108600" cy="548280"/>
          </a:xfrm>
          <a:prstGeom prst="rect">
            <a:avLst/>
          </a:prstGeom>
          <a:solidFill>
            <a:srgbClr val="212429"/>
          </a:solidFill>
          <a:ln w="25400">
            <a:solidFill>
              <a:srgbClr val="5b8d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7"/>
          <p:cNvSpPr/>
          <p:nvPr/>
        </p:nvSpPr>
        <p:spPr>
          <a:xfrm>
            <a:off x="960120" y="32461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b8def"/>
                </a:solidFill>
                <a:latin typeface="Trebuchet MS"/>
                <a:ea typeface="Trebuchet MS"/>
              </a:rPr>
              <a:t>job 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1920240" y="32461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arrives 1, needs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731520" y="3931920"/>
            <a:ext cx="3108600" cy="548280"/>
          </a:xfrm>
          <a:prstGeom prst="rect">
            <a:avLst/>
          </a:prstGeom>
          <a:solidFill>
            <a:srgbClr val="212429"/>
          </a:solidFill>
          <a:ln w="25400">
            <a:solidFill>
              <a:srgbClr val="7bc9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0"/>
          <p:cNvSpPr/>
          <p:nvPr/>
        </p:nvSpPr>
        <p:spPr>
          <a:xfrm>
            <a:off x="960120" y="39319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7bc96f"/>
                </a:solidFill>
                <a:latin typeface="Trebuchet MS"/>
                <a:ea typeface="Trebuchet MS"/>
              </a:rPr>
              <a:t>job 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192024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arrives 2, needs 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4069080" y="3429000"/>
            <a:ext cx="685800" cy="36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13"/>
          <p:cNvSpPr/>
          <p:nvPr/>
        </p:nvSpPr>
        <p:spPr>
          <a:xfrm>
            <a:off x="4983480" y="2560320"/>
            <a:ext cx="2468520" cy="1737000"/>
          </a:xfrm>
          <a:prstGeom prst="rect">
            <a:avLst/>
          </a:prstGeom>
          <a:solidFill>
            <a:srgbClr val="212429"/>
          </a:solidFill>
          <a:ln w="25400">
            <a:solidFill>
              <a:srgbClr val="a2ac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4"/>
          <p:cNvSpPr/>
          <p:nvPr/>
        </p:nvSpPr>
        <p:spPr>
          <a:xfrm>
            <a:off x="4983480" y="278892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5f7fa"/>
                </a:solidFill>
                <a:latin typeface="Trebuchet MS"/>
                <a:ea typeface="Trebuchet MS"/>
              </a:rPr>
              <a:t>one CPU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4983480" y="324612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21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runs one job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ts val="21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at a time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4709160" y="44348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0a93b"/>
                </a:solidFill>
                <a:latin typeface="Trebuchet MS"/>
                <a:ea typeface="Trebuchet MS"/>
              </a:rPr>
              <a:t>which job next?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4709160" y="48279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a93b"/>
                </a:solidFill>
                <a:latin typeface="Calibri"/>
                <a:ea typeface="Calibri"/>
              </a:rPr>
              <a:t>you write this part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7680960" y="3429000"/>
            <a:ext cx="685800" cy="36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9"/>
          <p:cNvSpPr/>
          <p:nvPr/>
        </p:nvSpPr>
        <p:spPr>
          <a:xfrm>
            <a:off x="8595360" y="21488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when did each finish?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3" name="Shape 20"/>
          <p:cNvSpPr/>
          <p:nvPr/>
        </p:nvSpPr>
        <p:spPr>
          <a:xfrm>
            <a:off x="8595360" y="2560320"/>
            <a:ext cx="2834280" cy="54828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1"/>
          <p:cNvSpPr/>
          <p:nvPr/>
        </p:nvSpPr>
        <p:spPr>
          <a:xfrm>
            <a:off x="8823960" y="25603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a93b"/>
                </a:solidFill>
                <a:latin typeface="Trebuchet MS"/>
                <a:ea typeface="Trebuchet MS"/>
              </a:rPr>
              <a:t>job 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5" name="Text 22"/>
          <p:cNvSpPr/>
          <p:nvPr/>
        </p:nvSpPr>
        <p:spPr>
          <a:xfrm>
            <a:off x="9784080" y="25603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0a93b"/>
                </a:solidFill>
                <a:latin typeface="Consolas"/>
                <a:ea typeface="Consolas"/>
              </a:rPr>
              <a:t>finished at 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8595360" y="3246120"/>
            <a:ext cx="2834280" cy="54828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4"/>
          <p:cNvSpPr/>
          <p:nvPr/>
        </p:nvSpPr>
        <p:spPr>
          <a:xfrm>
            <a:off x="8823960" y="32461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b8def"/>
                </a:solidFill>
                <a:latin typeface="Trebuchet MS"/>
                <a:ea typeface="Trebuchet MS"/>
              </a:rPr>
              <a:t>job 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8" name="Text 25"/>
          <p:cNvSpPr/>
          <p:nvPr/>
        </p:nvSpPr>
        <p:spPr>
          <a:xfrm>
            <a:off x="9784080" y="32461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0a93b"/>
                </a:solidFill>
                <a:latin typeface="Consolas"/>
                <a:ea typeface="Consolas"/>
              </a:rPr>
              <a:t>finished at 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9" name="Shape 26"/>
          <p:cNvSpPr/>
          <p:nvPr/>
        </p:nvSpPr>
        <p:spPr>
          <a:xfrm>
            <a:off x="8595360" y="3931920"/>
            <a:ext cx="2834280" cy="54828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7"/>
          <p:cNvSpPr/>
          <p:nvPr/>
        </p:nvSpPr>
        <p:spPr>
          <a:xfrm>
            <a:off x="8823960" y="39319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7bc96f"/>
                </a:solidFill>
                <a:latin typeface="Trebuchet MS"/>
                <a:ea typeface="Trebuchet MS"/>
              </a:rPr>
              <a:t>job 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1" name="Text 28"/>
          <p:cNvSpPr/>
          <p:nvPr/>
        </p:nvSpPr>
        <p:spPr>
          <a:xfrm>
            <a:off x="9784080" y="39319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0a93b"/>
                </a:solidFill>
                <a:latin typeface="Consolas"/>
                <a:ea typeface="Consolas"/>
              </a:rPr>
              <a:t>finished at 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2" name="Text 29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Your code that implements a policy is called the scheduler. You write one for each of the four policies.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Policies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The four policies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Each one answers the same question differently: which job runs next?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731520" y="1900000"/>
            <a:ext cx="4572000" cy="93000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4"/>
          <p:cNvSpPr/>
          <p:nvPr/>
        </p:nvSpPr>
        <p:spPr>
          <a:xfrm>
            <a:off x="731520" y="1900000"/>
            <a:ext cx="82080" cy="93000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5"/>
          <p:cNvSpPr/>
          <p:nvPr/>
        </p:nvSpPr>
        <p:spPr>
          <a:xfrm>
            <a:off x="1097280" y="1970000"/>
            <a:ext cx="1300000" cy="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5f7fa"/>
                </a:solidFill>
                <a:latin typeface="Trebuchet MS"/>
                <a:ea typeface="Trebuchet MS"/>
              </a:rPr>
              <a:t>FCFS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2600000" y="2000000"/>
            <a:ext cx="2500000" cy="2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Non-preemptive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097280" y="2330000"/>
            <a:ext cx="4100000" cy="4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First come, first served.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731520" y="2870000"/>
            <a:ext cx="4572000" cy="93000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9"/>
          <p:cNvSpPr/>
          <p:nvPr/>
        </p:nvSpPr>
        <p:spPr>
          <a:xfrm>
            <a:off x="731520" y="2870000"/>
            <a:ext cx="82080" cy="93000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0"/>
          <p:cNvSpPr/>
          <p:nvPr/>
        </p:nvSpPr>
        <p:spPr>
          <a:xfrm>
            <a:off x="1097280" y="2940000"/>
            <a:ext cx="1300000" cy="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5f7fa"/>
                </a:solidFill>
                <a:latin typeface="Trebuchet MS"/>
                <a:ea typeface="Trebuchet MS"/>
              </a:rPr>
              <a:t>LCFS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2600000" y="2970000"/>
            <a:ext cx="2500000" cy="2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Non-preemptive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1097280" y="3300000"/>
            <a:ext cx="4100000" cy="4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Last come, first served.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731520" y="3840000"/>
            <a:ext cx="4572000" cy="93000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14"/>
          <p:cNvSpPr/>
          <p:nvPr/>
        </p:nvSpPr>
        <p:spPr>
          <a:xfrm>
            <a:off x="731520" y="3840000"/>
            <a:ext cx="82080" cy="93000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5"/>
          <p:cNvSpPr/>
          <p:nvPr/>
        </p:nvSpPr>
        <p:spPr>
          <a:xfrm>
            <a:off x="1097280" y="3910000"/>
            <a:ext cx="1300000" cy="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5f7fa"/>
                </a:solidFill>
                <a:latin typeface="Trebuchet MS"/>
                <a:ea typeface="Trebuchet MS"/>
              </a:rPr>
              <a:t>SJF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2600000" y="3940000"/>
            <a:ext cx="2500000" cy="2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Non-preemptive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1097280" y="4270000"/>
            <a:ext cx="4100000" cy="4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Shortest job first. Ties go to the smaller job id.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731520" y="4810000"/>
            <a:ext cx="4572000" cy="930000"/>
          </a:xfrm>
          <a:prstGeom prst="rect">
            <a:avLst/>
          </a:prstGeom>
          <a:solidFill>
            <a:srgbClr val="212429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9"/>
          <p:cNvSpPr/>
          <p:nvPr/>
        </p:nvSpPr>
        <p:spPr>
          <a:xfrm>
            <a:off x="731520" y="4810000"/>
            <a:ext cx="82080" cy="9300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20"/>
          <p:cNvSpPr/>
          <p:nvPr/>
        </p:nvSpPr>
        <p:spPr>
          <a:xfrm>
            <a:off x="1097280" y="4880000"/>
            <a:ext cx="1300000" cy="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0a93b"/>
                </a:solidFill>
                <a:latin typeface="Trebuchet MS"/>
                <a:ea typeface="Trebuchet MS"/>
              </a:rPr>
              <a:t>MLFQ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2600000" y="4910000"/>
            <a:ext cx="2500000" cy="2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Preemptive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1097280" y="5240000"/>
            <a:ext cx="4100000" cy="4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Simplified multi-level feedback queue. Preemptive, so it asks a different question.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6" name="Text 23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Preemptive means the scheduler can take the CPU away from a job that has not finished. Only MLFQ does that.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0" name="Panel Head"/>
          <p:cNvSpPr/>
          <p:nvPr/>
        </p:nvSpPr>
        <p:spPr>
          <a:xfrm>
            <a:off x="5700000" y="1900000"/>
            <a:ext cx="5729640" cy="3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Three jobs are waiting for the CPU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1" name="Col job"/>
          <p:cNvSpPr/>
          <p:nvPr/>
        </p:nvSpPr>
        <p:spPr>
          <a:xfrm>
            <a:off x="5928000" y="2400000"/>
            <a:ext cx="1600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job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2" name="Col arrived"/>
          <p:cNvSpPr/>
          <p:nvPr/>
        </p:nvSpPr>
        <p:spPr>
          <a:xfrm>
            <a:off x="7700000" y="2400000"/>
            <a:ext cx="1400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arrived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3" name="Col needs"/>
          <p:cNvSpPr/>
          <p:nvPr/>
        </p:nvSpPr>
        <p:spPr>
          <a:xfrm>
            <a:off x="9300000" y="2400000"/>
            <a:ext cx="14000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needs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0" name="Job Bar 1"/>
          <p:cNvSpPr/>
          <p:nvPr/>
        </p:nvSpPr>
        <p:spPr>
          <a:xfrm>
            <a:off x="5700000" y="2800000"/>
            <a:ext cx="82080" cy="56000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Job 1 job 1"/>
          <p:cNvSpPr/>
          <p:nvPr/>
        </p:nvSpPr>
        <p:spPr>
          <a:xfrm>
            <a:off x="5928000" y="2800000"/>
            <a:ext cx="16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job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2" name="Job 1 1st"/>
          <p:cNvSpPr/>
          <p:nvPr/>
        </p:nvSpPr>
        <p:spPr>
          <a:xfrm>
            <a:off x="7700000" y="2800000"/>
            <a:ext cx="14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1st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3" name="Job 1 3"/>
          <p:cNvSpPr/>
          <p:nvPr/>
        </p:nvSpPr>
        <p:spPr>
          <a:xfrm>
            <a:off x="9300000" y="2800000"/>
            <a:ext cx="14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0" name="Job Bar 2"/>
          <p:cNvSpPr/>
          <p:nvPr/>
        </p:nvSpPr>
        <p:spPr>
          <a:xfrm>
            <a:off x="5700000" y="3500000"/>
            <a:ext cx="82080" cy="56000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Job 2 job 2"/>
          <p:cNvSpPr/>
          <p:nvPr/>
        </p:nvSpPr>
        <p:spPr>
          <a:xfrm>
            <a:off x="5928000" y="3500000"/>
            <a:ext cx="16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job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2" name="Job 2 2nd"/>
          <p:cNvSpPr/>
          <p:nvPr/>
        </p:nvSpPr>
        <p:spPr>
          <a:xfrm>
            <a:off x="7700000" y="3500000"/>
            <a:ext cx="14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2nd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3" name="Job 2 1"/>
          <p:cNvSpPr/>
          <p:nvPr/>
        </p:nvSpPr>
        <p:spPr>
          <a:xfrm>
            <a:off x="9300000" y="3500000"/>
            <a:ext cx="14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0" name="Job Bar 3"/>
          <p:cNvSpPr/>
          <p:nvPr/>
        </p:nvSpPr>
        <p:spPr>
          <a:xfrm>
            <a:off x="5700000" y="4200000"/>
            <a:ext cx="82080" cy="56000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1" name="Job 3 job 3"/>
          <p:cNvSpPr/>
          <p:nvPr/>
        </p:nvSpPr>
        <p:spPr>
          <a:xfrm>
            <a:off x="5928000" y="4200000"/>
            <a:ext cx="16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job 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2" name="Job 3 3rd"/>
          <p:cNvSpPr/>
          <p:nvPr/>
        </p:nvSpPr>
        <p:spPr>
          <a:xfrm>
            <a:off x="7700000" y="4200000"/>
            <a:ext cx="14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3rd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3" name="Job 3 2"/>
          <p:cNvSpPr/>
          <p:nvPr/>
        </p:nvSpPr>
        <p:spPr>
          <a:xfrm>
            <a:off x="9300000" y="4200000"/>
            <a:ext cx="1400000" cy="5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0" name="Panel Caption"/>
          <p:cNvSpPr/>
          <p:nvPr/>
        </p:nvSpPr>
        <p:spPr>
          <a:xfrm>
            <a:off x="5700000" y="4900000"/>
            <a:ext cx="5729640" cy="3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highlighted = the job that policy picks next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6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8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0" dur="4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2" dur="4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4" dur="4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6" dur="4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8" dur="4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0" dur="4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2" dur="4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4" dur="4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6" dur="4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8" dur="4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0" dur="4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2" dur="4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6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8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0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2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4" dur="4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6" dur="4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8" dur="4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0" dur="4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2" dur="4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4" dur="4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6" dur="4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8" dur="4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0" dur="4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2" dur="4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4" dur="4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6" dur="4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0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2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4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6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8" dur="4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0" dur="4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2" dur="4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4" dur="4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6" dur="4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8" dur="4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0" dur="4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2" dur="4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4" dur="4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6" dur="4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8" dur="4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0" dur="4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2" dur="4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4" dur="4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88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0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2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4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6" dur="4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8" dur="4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0" dur="4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2" dur="4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4" dur="4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6" dur="4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8" dur="4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0" dur="4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2" dur="4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4" dur="4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6" dur="4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8" dur="4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0" dur="4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2" dur="4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4" dur="4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6" dur="4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2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4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6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8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0" dur="4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2" dur="4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4" dur="4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6" dur="4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8" dur="4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0" dur="4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2" dur="4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4" dur="4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6" dur="4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8" dur="4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0" dur="4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2" dur="4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4" dur="4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6" dur="4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8" dur="4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0" dur="4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Example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What goes in, and what comes out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Three jobs in, three completion times out.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731520" y="1965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input: one line per job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731520" y="2286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a93b"/>
                </a:solidFill>
                <a:latin typeface="Calibri"/>
                <a:ea typeface="Calibri"/>
              </a:rPr>
              <a:t>job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1874520" y="2286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a93b"/>
                </a:solidFill>
                <a:latin typeface="Calibri"/>
                <a:ea typeface="Calibri"/>
              </a:rPr>
              <a:t>arrives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3017520" y="2286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a93b"/>
                </a:solidFill>
                <a:latin typeface="Calibri"/>
                <a:ea typeface="Calibri"/>
              </a:rPr>
              <a:t>size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685800" y="2679120"/>
            <a:ext cx="109440" cy="27396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8"/>
          <p:cNvSpPr/>
          <p:nvPr/>
        </p:nvSpPr>
        <p:spPr>
          <a:xfrm>
            <a:off x="914400" y="260604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2057400" y="260604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0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3200400" y="260604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3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685800" y="3154680"/>
            <a:ext cx="109440" cy="27396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2"/>
          <p:cNvSpPr/>
          <p:nvPr/>
        </p:nvSpPr>
        <p:spPr>
          <a:xfrm>
            <a:off x="914400" y="308160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2057400" y="308160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3200400" y="308160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12" name="Shape 15"/>
          <p:cNvSpPr/>
          <p:nvPr/>
        </p:nvSpPr>
        <p:spPr>
          <a:xfrm>
            <a:off x="685800" y="3630240"/>
            <a:ext cx="109440" cy="273960"/>
          </a:xfrm>
          <a:prstGeom prst="rect">
            <a:avLst/>
          </a:prstGeom>
          <a:solidFill>
            <a:srgbClr val="7bc9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6"/>
          <p:cNvSpPr/>
          <p:nvPr/>
        </p:nvSpPr>
        <p:spPr>
          <a:xfrm>
            <a:off x="914400" y="35571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3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2057400" y="35571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3200400" y="35571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16" name="Text 19"/>
          <p:cNvSpPr/>
          <p:nvPr/>
        </p:nvSpPr>
        <p:spPr>
          <a:xfrm>
            <a:off x="7863840" y="1965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output: one line per job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7" name="Text 20"/>
          <p:cNvSpPr/>
          <p:nvPr/>
        </p:nvSpPr>
        <p:spPr>
          <a:xfrm>
            <a:off x="7863840" y="22860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a93b"/>
                </a:solidFill>
                <a:latin typeface="Calibri"/>
                <a:ea typeface="Calibri"/>
              </a:rPr>
              <a:t>job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9326880" y="22860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a93b"/>
                </a:solidFill>
                <a:latin typeface="Calibri"/>
                <a:ea typeface="Calibri"/>
              </a:rPr>
              <a:t>finished at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9" name="Shape 22"/>
          <p:cNvSpPr/>
          <p:nvPr/>
        </p:nvSpPr>
        <p:spPr>
          <a:xfrm>
            <a:off x="7818120" y="2679120"/>
            <a:ext cx="109440" cy="27396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3"/>
          <p:cNvSpPr/>
          <p:nvPr/>
        </p:nvSpPr>
        <p:spPr>
          <a:xfrm>
            <a:off x="8046720" y="260604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21" name="Text 24"/>
          <p:cNvSpPr/>
          <p:nvPr/>
        </p:nvSpPr>
        <p:spPr>
          <a:xfrm>
            <a:off x="9326880" y="260604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3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22" name="Shape 25"/>
          <p:cNvSpPr/>
          <p:nvPr/>
        </p:nvSpPr>
        <p:spPr>
          <a:xfrm>
            <a:off x="7818120" y="3154680"/>
            <a:ext cx="109440" cy="27396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6"/>
          <p:cNvSpPr/>
          <p:nvPr/>
        </p:nvSpPr>
        <p:spPr>
          <a:xfrm>
            <a:off x="8046720" y="308160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24" name="Text 27"/>
          <p:cNvSpPr/>
          <p:nvPr/>
        </p:nvSpPr>
        <p:spPr>
          <a:xfrm>
            <a:off x="9326880" y="308160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5b8def"/>
                </a:solidFill>
                <a:latin typeface="Consolas"/>
                <a:ea typeface="Consolas"/>
              </a:rPr>
              <a:t>4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25" name="Shape 28"/>
          <p:cNvSpPr/>
          <p:nvPr/>
        </p:nvSpPr>
        <p:spPr>
          <a:xfrm>
            <a:off x="7818120" y="3630240"/>
            <a:ext cx="109440" cy="273960"/>
          </a:xfrm>
          <a:prstGeom prst="rect">
            <a:avLst/>
          </a:prstGeom>
          <a:solidFill>
            <a:srgbClr val="7bc9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9"/>
          <p:cNvSpPr/>
          <p:nvPr/>
        </p:nvSpPr>
        <p:spPr>
          <a:xfrm>
            <a:off x="8046720" y="35571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3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27" name="Text 30"/>
          <p:cNvSpPr/>
          <p:nvPr/>
        </p:nvSpPr>
        <p:spPr>
          <a:xfrm>
            <a:off x="9326880" y="355716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7bc96f"/>
                </a:solidFill>
                <a:latin typeface="Consolas"/>
                <a:ea typeface="Consolas"/>
              </a:rPr>
              <a:t>6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28" name="Shape 31"/>
          <p:cNvSpPr/>
          <p:nvPr/>
        </p:nvSpPr>
        <p:spPr>
          <a:xfrm>
            <a:off x="1965960" y="4572000"/>
            <a:ext cx="8229240" cy="868320"/>
          </a:xfrm>
          <a:prstGeom prst="rect">
            <a:avLst/>
          </a:prstGeom>
          <a:solidFill>
            <a:srgbClr val="1d20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32"/>
          <p:cNvSpPr/>
          <p:nvPr/>
        </p:nvSpPr>
        <p:spPr>
          <a:xfrm>
            <a:off x="1965960" y="4572000"/>
            <a:ext cx="4114440" cy="86832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0" name="Text 33"/>
          <p:cNvSpPr/>
          <p:nvPr/>
        </p:nvSpPr>
        <p:spPr>
          <a:xfrm>
            <a:off x="5623560" y="5568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a93b"/>
                </a:solidFill>
                <a:latin typeface="Consolas"/>
                <a:ea typeface="Consolas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1" name="Text 34"/>
          <p:cNvSpPr/>
          <p:nvPr/>
        </p:nvSpPr>
        <p:spPr>
          <a:xfrm>
            <a:off x="6080760" y="4572000"/>
            <a:ext cx="1371240" cy="86832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2" name="Text 35"/>
          <p:cNvSpPr/>
          <p:nvPr/>
        </p:nvSpPr>
        <p:spPr>
          <a:xfrm>
            <a:off x="6994980" y="5568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b8def"/>
                </a:solidFill>
                <a:latin typeface="Consolas"/>
                <a:ea typeface="Consolas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3" name="Text 36"/>
          <p:cNvSpPr/>
          <p:nvPr/>
        </p:nvSpPr>
        <p:spPr>
          <a:xfrm>
            <a:off x="7452000" y="4572000"/>
            <a:ext cx="2743200" cy="868320"/>
          </a:xfrm>
          <a:prstGeom prst="rect">
            <a:avLst/>
          </a:prstGeom>
          <a:solidFill>
            <a:srgbClr val="7bc9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4" name="Text 37"/>
          <p:cNvSpPr/>
          <p:nvPr/>
        </p:nvSpPr>
        <p:spPr>
          <a:xfrm>
            <a:off x="9738360" y="5568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7bc96f"/>
                </a:solidFill>
                <a:latin typeface="Consolas"/>
                <a:ea typeface="Consolas"/>
              </a:rPr>
              <a:t>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5" name="Shape 38"/>
          <p:cNvSpPr/>
          <p:nvPr/>
        </p:nvSpPr>
        <p:spPr>
          <a:xfrm>
            <a:off x="1965960" y="4279320"/>
            <a:ext cx="45360" cy="2556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9"/>
          <p:cNvSpPr/>
          <p:nvPr/>
        </p:nvSpPr>
        <p:spPr>
          <a:xfrm>
            <a:off x="1234440" y="3950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a93b"/>
                </a:solidFill>
                <a:latin typeface="Calibri"/>
                <a:ea typeface="Calibri"/>
              </a:rPr>
              <a:t>job 1 arrives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7" name="Shape 40"/>
          <p:cNvSpPr/>
          <p:nvPr/>
        </p:nvSpPr>
        <p:spPr>
          <a:xfrm>
            <a:off x="3337560" y="4279320"/>
            <a:ext cx="45360" cy="25560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41"/>
          <p:cNvSpPr/>
          <p:nvPr/>
        </p:nvSpPr>
        <p:spPr>
          <a:xfrm>
            <a:off x="2606040" y="3950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8def"/>
                </a:solidFill>
                <a:latin typeface="Calibri"/>
                <a:ea typeface="Calibri"/>
              </a:rPr>
              <a:t>job 2 arrives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9" name="Shape 42"/>
          <p:cNvSpPr/>
          <p:nvPr/>
        </p:nvSpPr>
        <p:spPr>
          <a:xfrm>
            <a:off x="4709160" y="4279320"/>
            <a:ext cx="45360" cy="255600"/>
          </a:xfrm>
          <a:prstGeom prst="rect">
            <a:avLst/>
          </a:prstGeom>
          <a:solidFill>
            <a:srgbClr val="7bc9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43"/>
          <p:cNvSpPr/>
          <p:nvPr/>
        </p:nvSpPr>
        <p:spPr>
          <a:xfrm>
            <a:off x="3977640" y="3950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c96f"/>
                </a:solidFill>
                <a:latin typeface="Calibri"/>
                <a:ea typeface="Calibri"/>
              </a:rPr>
              <a:t>job 3 arrives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1" name="Text 44"/>
          <p:cNvSpPr/>
          <p:nvPr/>
        </p:nvSpPr>
        <p:spPr>
          <a:xfrm>
            <a:off x="1508760" y="5568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onsolas"/>
                <a:ea typeface="Consolas"/>
              </a:rPr>
              <a:t>0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2" name="Text 45"/>
          <p:cNvSpPr/>
          <p:nvPr/>
        </p:nvSpPr>
        <p:spPr>
          <a:xfrm>
            <a:off x="731520" y="48463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alibri"/>
                <a:ea typeface="Calibri"/>
              </a:rPr>
              <a:t>the CPU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3" name="Text 46"/>
          <p:cNvSpPr/>
          <p:nvPr/>
        </p:nvSpPr>
        <p:spPr>
          <a:xfrm>
            <a:off x="731520" y="58521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Jobs 2 and 3 arrive while job 1 is still running, so they wait. FCFS then takes them in the order they arrived.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44" name="Text 47"/>
          <p:cNvSpPr/>
          <p:nvPr/>
        </p:nvSpPr>
        <p:spPr>
          <a:xfrm>
            <a:off x="731520" y="626364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0a93b"/>
                </a:solidFill>
                <a:latin typeface="Calibri"/>
                <a:ea typeface="Calibri"/>
              </a:rPr>
              <a:t>A different policy would run them in a different order, and those completion times would change.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4" dur="4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6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8" dur="4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0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2" dur="4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4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6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8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0" dur="4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2" dur="4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4" dur="4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6" dur="4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8" dur="4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0" dur="4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2" dur="4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4" dur="4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6" dur="4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8" dur="4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0" dur="4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2" dur="4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4" dur="4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2" dur="4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6" dur="4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8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0" dur="4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2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4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6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8de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8" dur="4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8de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0" dur="4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2" dur="4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4" dur="4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6" dur="4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8" dur="4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b8de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0" dur="4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2" dur="4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4" dur="4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6" dur="4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8" dur="4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80" dur="4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82" dur="4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0" dur="4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2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4" dur="4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6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8" dur="4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0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4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6" dur="4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a404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8" dur="4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0" dur="4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2" dur="4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4" dur="4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6" dur="4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a515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8" dur="4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bc96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0" dur="4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bc96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2" dur="4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4" dur="4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6" dur="4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8" dur="4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0" dur="4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bc96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6" dur="4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8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0" dur="4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2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4" dur="4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6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8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a9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9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0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8de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2" dur="4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8de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4" dur="4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6" dur="4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8" dur="4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0" dur="4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2" dur="4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b8de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4" dur="4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bc96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1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6" dur="4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bc96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8" dur="4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0" dur="4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2" dur="4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4" dur="4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f7f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3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6" dur="4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bc96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How the code runs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This project is written differently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It is shaped differently from most programs you have written so far.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731520" y="2194560"/>
            <a:ext cx="5257440" cy="3017160"/>
          </a:xfrm>
          <a:prstGeom prst="rect">
            <a:avLst/>
          </a:prstGeom>
          <a:solidFill>
            <a:srgbClr val="212429"/>
          </a:solidFill>
          <a:ln w="25400">
            <a:solidFill>
              <a:srgbClr val="a2ac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4"/>
          <p:cNvSpPr/>
          <p:nvPr/>
        </p:nvSpPr>
        <p:spPr>
          <a:xfrm>
            <a:off x="1097280" y="24688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a2acb6"/>
                </a:solidFill>
                <a:latin typeface="Trebuchet MS"/>
                <a:ea typeface="Trebuchet MS"/>
              </a:rPr>
              <a:t>You call the library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1097280" y="3063240"/>
            <a:ext cx="45716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Your code decides what happens next.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It runs top to bottom, or loops until you stop it.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6172200" y="2194560"/>
            <a:ext cx="5257440" cy="301716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7"/>
          <p:cNvSpPr/>
          <p:nvPr/>
        </p:nvSpPr>
        <p:spPr>
          <a:xfrm>
            <a:off x="6537960" y="24688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0a93b"/>
                </a:solidFill>
                <a:latin typeface="Trebuchet MS"/>
                <a:ea typeface="Trebuchet MS"/>
              </a:rPr>
              <a:t>The simulator calls you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6537960" y="3063240"/>
            <a:ext cx="45716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The simulator decides what happens next.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You write functions and hand them over.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Nothing in your scheduler runs until the simulator calls it.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How the code runs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The clock does not tick. It is assigned.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This loop, in simulator.c, is the entire engine.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731520" y="2103120"/>
            <a:ext cx="5943240" cy="2559960"/>
          </a:xfrm>
          <a:prstGeom prst="rect">
            <a:avLst/>
          </a:prstGeom>
          <a:solidFill>
            <a:srgbClr val="101216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4"/>
          <p:cNvSpPr/>
          <p:nvPr/>
        </p:nvSpPr>
        <p:spPr>
          <a:xfrm>
            <a:off x="1005840" y="2286000"/>
            <a:ext cx="55774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while (</a:t>
            </a:r>
            <a:r>
              <a:rPr b="0" lang="en-US" sz="1500" spc="-1" strike="noStrike">
                <a:solidFill>
                  <a:srgbClr val="7bc96f"/>
                </a:solidFill>
                <a:latin typeface="Consolas"/>
                <a:ea typeface="Consolas"/>
              </a:rPr>
              <a:t>event queue is not empty</a:t>
            </a:r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) {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    </a:t>
            </a:r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event = </a:t>
            </a:r>
            <a:r>
              <a:rPr b="0" lang="en-US" sz="1500" spc="-1" strike="noStrike">
                <a:solidFill>
                  <a:srgbClr val="7bc96f"/>
                </a:solidFill>
                <a:latin typeface="Consolas"/>
                <a:ea typeface="Consolas"/>
              </a:rPr>
              <a:t>earliest event in the queue</a:t>
            </a:r>
            <a:endParaRPr b="0" lang="en-US" sz="15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f0a93b"/>
                </a:solidFill>
                <a:latin typeface="Consolas"/>
                <a:ea typeface="Consolas"/>
              </a:rPr>
              <a:t>    </a:t>
            </a:r>
            <a:r>
              <a:rPr b="1" lang="en-US" sz="1500" spc="-1" strike="noStrike">
                <a:solidFill>
                  <a:srgbClr val="f0a93b"/>
                </a:solidFill>
                <a:latin typeface="Consolas"/>
                <a:ea typeface="Consolas"/>
              </a:rPr>
              <a:t>sim-&gt;simTime = event-&gt;timestamp;</a:t>
            </a:r>
            <a:endParaRPr b="0" lang="en-US" sz="15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5b8def"/>
                </a:solidFill>
                <a:latin typeface="Consolas"/>
                <a:ea typeface="Consolas"/>
              </a:rPr>
              <a:t>    </a:t>
            </a:r>
            <a:r>
              <a:rPr b="1" lang="en-US" sz="1500" spc="-1" strike="noStrike">
                <a:solidFill>
                  <a:srgbClr val="5b8def"/>
                </a:solidFill>
                <a:latin typeface="Consolas"/>
                <a:ea typeface="Consolas"/>
              </a:rPr>
              <a:t>event-&gt;callback(event-&gt;callbackData);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    </a:t>
            </a:r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remove that event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7f8a96"/>
                </a:solidFill>
                <a:latin typeface="Consolas"/>
                <a:ea typeface="Consolas"/>
              </a:rPr>
              <a:t>}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7223760" y="2103120"/>
            <a:ext cx="82080" cy="10512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6"/>
          <p:cNvSpPr/>
          <p:nvPr/>
        </p:nvSpPr>
        <p:spPr>
          <a:xfrm>
            <a:off x="7543800" y="208476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0a93b"/>
                </a:solidFill>
                <a:latin typeface="Trebuchet MS"/>
                <a:ea typeface="Trebuchet MS"/>
              </a:rPr>
              <a:t>The clock is set, not advanced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7543800" y="242316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Simulator time becomes whatever the next event's timestamp is. It never counts up one at a time.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7223760" y="3383280"/>
            <a:ext cx="82080" cy="105120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9"/>
          <p:cNvSpPr/>
          <p:nvPr/>
        </p:nvSpPr>
        <p:spPr>
          <a:xfrm>
            <a:off x="7543800" y="336492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5b8def"/>
                </a:solidFill>
                <a:latin typeface="Trebuchet MS"/>
                <a:ea typeface="Trebuchet MS"/>
              </a:rPr>
              <a:t>The event carries a function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7543800" y="370332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Every event stores a pointer to a function. Running an event means calling that function.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731520" y="49377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alibri"/>
                <a:ea typeface="Calibri"/>
              </a:rPr>
              <a:t>While your callback runs, the clock does not move. Every call you get sees one fixed current time.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If nothing puts a new event in the queue, the loop ends and the run is over.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How the code runs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How your code gets called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An event fires, and one of your functions runs.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731520" y="2148840"/>
            <a:ext cx="5257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5f7fa"/>
                </a:solidFill>
                <a:latin typeface="Trebuchet MS"/>
                <a:ea typeface="Trebuchet MS"/>
              </a:rPr>
              <a:t>An arrival event fires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1188720" y="2606040"/>
            <a:ext cx="360" cy="27432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5"/>
          <p:cNvSpPr/>
          <p:nvPr/>
        </p:nvSpPr>
        <p:spPr>
          <a:xfrm>
            <a:off x="731520" y="3017520"/>
            <a:ext cx="5257440" cy="169128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6"/>
          <p:cNvSpPr/>
          <p:nvPr/>
        </p:nvSpPr>
        <p:spPr>
          <a:xfrm>
            <a:off x="1051560" y="320040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0a93b"/>
                </a:solidFill>
                <a:latin typeface="Consolas"/>
                <a:ea typeface="Consolas"/>
              </a:rPr>
              <a:t>schedulerFCFSScheduleJob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1051560" y="35661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onsolas"/>
                <a:ea typeface="Consolas"/>
              </a:rPr>
              <a:t>(info, scheduler, job, currentTime)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6" name="Text 8"/>
          <p:cNvSpPr/>
          <p:nvPr/>
        </p:nvSpPr>
        <p:spPr>
          <a:xfrm>
            <a:off x="1051560" y="4005000"/>
            <a:ext cx="4617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1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Start the job, make it wait, or take the CPU from what is running.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77" name="Text 9"/>
          <p:cNvSpPr/>
          <p:nvPr/>
        </p:nvSpPr>
        <p:spPr>
          <a:xfrm>
            <a:off x="6309360" y="2148840"/>
            <a:ext cx="5257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5f7fa"/>
                </a:solidFill>
                <a:latin typeface="Trebuchet MS"/>
                <a:ea typeface="Trebuchet MS"/>
              </a:rPr>
              <a:t>A completion event fires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78" name="Shape 10"/>
          <p:cNvSpPr/>
          <p:nvPr/>
        </p:nvSpPr>
        <p:spPr>
          <a:xfrm>
            <a:off x="6766560" y="2606040"/>
            <a:ext cx="360" cy="274320"/>
          </a:xfrm>
          <a:prstGeom prst="line">
            <a:avLst/>
          </a:prstGeom>
          <a:ln w="25400">
            <a:solidFill>
              <a:srgbClr val="4a51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11"/>
          <p:cNvSpPr/>
          <p:nvPr/>
        </p:nvSpPr>
        <p:spPr>
          <a:xfrm>
            <a:off x="6309360" y="3017520"/>
            <a:ext cx="5257440" cy="169128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2"/>
          <p:cNvSpPr/>
          <p:nvPr/>
        </p:nvSpPr>
        <p:spPr>
          <a:xfrm>
            <a:off x="6629400" y="320040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0a93b"/>
                </a:solidFill>
                <a:latin typeface="Consolas"/>
                <a:ea typeface="Consolas"/>
              </a:rPr>
              <a:t>schedulerFCFSCompleteJob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1" name="Text 13"/>
          <p:cNvSpPr/>
          <p:nvPr/>
        </p:nvSpPr>
        <p:spPr>
          <a:xfrm>
            <a:off x="6629400" y="35661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onsolas"/>
                <a:ea typeface="Consolas"/>
              </a:rPr>
              <a:t>(info, scheduler, currentTime)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2" name="Text 14"/>
          <p:cNvSpPr/>
          <p:nvPr/>
        </p:nvSpPr>
        <p:spPr>
          <a:xfrm>
            <a:off x="6629400" y="4005000"/>
            <a:ext cx="4617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1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Return the job that finished, if one did, and choose what runs next.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3" name="Text 15"/>
          <p:cNvSpPr/>
          <p:nvPr/>
        </p:nvSpPr>
        <p:spPr>
          <a:xfrm>
            <a:off x="731520" y="516636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Return a job and the provided code writes its output line. Return nothing and nothing is written.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84" name="Text 16"/>
          <p:cNvSpPr/>
          <p:nvPr/>
        </p:nvSpPr>
        <p:spPr>
          <a:xfrm>
            <a:off x="731520" y="559620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Each policy has its own pair, named for its file: schedulerLCFSScheduleJob, schedulerSJFCompleteJob, and so on.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85" name="Text 17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currentTime is handed to you on every call. You never keep a clock of your own.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How the code runs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The simulator's queue is not your queue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One holds events. The other holds jobs.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89" name="Shape 3"/>
          <p:cNvSpPr/>
          <p:nvPr/>
        </p:nvSpPr>
        <p:spPr>
          <a:xfrm>
            <a:off x="731520" y="2148840"/>
            <a:ext cx="5257440" cy="3200040"/>
          </a:xfrm>
          <a:prstGeom prst="rect">
            <a:avLst/>
          </a:prstGeom>
          <a:solidFill>
            <a:srgbClr val="212429"/>
          </a:solidFill>
          <a:ln w="25400">
            <a:solidFill>
              <a:srgbClr val="a2ac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4"/>
          <p:cNvSpPr/>
          <p:nvPr/>
        </p:nvSpPr>
        <p:spPr>
          <a:xfrm>
            <a:off x="1097280" y="2423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a2acb6"/>
                </a:solidFill>
                <a:latin typeface="Trebuchet MS"/>
                <a:ea typeface="Trebuchet MS"/>
              </a:rPr>
              <a:t>The simulator's event queue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1097280" y="3017520"/>
            <a:ext cx="4571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Holds arrival and completion events.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Sorted by time.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Provided for you. You never manipulate it directly.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92" name="Shape 6"/>
          <p:cNvSpPr/>
          <p:nvPr/>
        </p:nvSpPr>
        <p:spPr>
          <a:xfrm>
            <a:off x="6172200" y="2148840"/>
            <a:ext cx="5257440" cy="320004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7"/>
          <p:cNvSpPr/>
          <p:nvPr/>
        </p:nvSpPr>
        <p:spPr>
          <a:xfrm>
            <a:off x="6537960" y="2423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0a93b"/>
                </a:solidFill>
                <a:latin typeface="Trebuchet MS"/>
                <a:ea typeface="Trebuchet MS"/>
              </a:rPr>
              <a:t>Your scheduler's queue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94" name="Text 8"/>
          <p:cNvSpPr/>
          <p:nvPr/>
        </p:nvSpPr>
        <p:spPr>
          <a:xfrm>
            <a:off x="6537960" y="3017520"/>
            <a:ext cx="4571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Holds jobs that have arrived but not finished.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Ordered however your policy needs.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You create it, fill it, and free it.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Your waiting jobs are not events. Putting a job in your queue does not schedule anything.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The files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What you implement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These are the only files you change.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731520" y="2267640"/>
            <a:ext cx="109440" cy="29232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4"/>
          <p:cNvSpPr/>
          <p:nvPr/>
        </p:nvSpPr>
        <p:spPr>
          <a:xfrm>
            <a:off x="1143000" y="2148840"/>
            <a:ext cx="3657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linked_list.c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5029200" y="2148840"/>
            <a:ext cx="6400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every policy uses it, and so does the simulator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2" name="Shape 6"/>
          <p:cNvSpPr/>
          <p:nvPr/>
        </p:nvSpPr>
        <p:spPr>
          <a:xfrm>
            <a:off x="731520" y="2953440"/>
            <a:ext cx="109440" cy="29232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7"/>
          <p:cNvSpPr/>
          <p:nvPr/>
        </p:nvSpPr>
        <p:spPr>
          <a:xfrm>
            <a:off x="1143000" y="2834640"/>
            <a:ext cx="3657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schedulerFCFS.c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5029200" y="2834640"/>
            <a:ext cx="6400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first come, first served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5" name="Shape 9"/>
          <p:cNvSpPr/>
          <p:nvPr/>
        </p:nvSpPr>
        <p:spPr>
          <a:xfrm>
            <a:off x="731520" y="3639240"/>
            <a:ext cx="109440" cy="29232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0"/>
          <p:cNvSpPr/>
          <p:nvPr/>
        </p:nvSpPr>
        <p:spPr>
          <a:xfrm>
            <a:off x="1143000" y="3520440"/>
            <a:ext cx="3657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schedulerLCFS.c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07" name="Text 11"/>
          <p:cNvSpPr/>
          <p:nvPr/>
        </p:nvSpPr>
        <p:spPr>
          <a:xfrm>
            <a:off x="5029200" y="3520440"/>
            <a:ext cx="6400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last come, first served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8" name="Shape 12"/>
          <p:cNvSpPr/>
          <p:nvPr/>
        </p:nvSpPr>
        <p:spPr>
          <a:xfrm>
            <a:off x="731520" y="4325040"/>
            <a:ext cx="109440" cy="29232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3"/>
          <p:cNvSpPr/>
          <p:nvPr/>
        </p:nvSpPr>
        <p:spPr>
          <a:xfrm>
            <a:off x="1143000" y="4206240"/>
            <a:ext cx="3657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schedulerSJF.c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5029200" y="4206240"/>
            <a:ext cx="6400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shortest job first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1" name="Shape 15"/>
          <p:cNvSpPr/>
          <p:nvPr/>
        </p:nvSpPr>
        <p:spPr>
          <a:xfrm>
            <a:off x="731520" y="5010840"/>
            <a:ext cx="109440" cy="292320"/>
          </a:xfrm>
          <a:prstGeom prst="rect">
            <a:avLst/>
          </a:prstGeom>
          <a:solidFill>
            <a:srgbClr val="4a5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6"/>
          <p:cNvSpPr/>
          <p:nvPr/>
        </p:nvSpPr>
        <p:spPr>
          <a:xfrm>
            <a:off x="1143000" y="4892040"/>
            <a:ext cx="3657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5f7fa"/>
                </a:solidFill>
                <a:latin typeface="Consolas"/>
                <a:ea typeface="Consolas"/>
              </a:rPr>
              <a:t>schedulerMLFQ.c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5029200" y="4892040"/>
            <a:ext cx="6400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multi-level feedback queue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731520" y="566928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linked_list.h is optional: add fields or helpers if you want, but leave its existing declarations alone.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15" name="Text 19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Every other file is provided. Changes you make to those are discarded when your work is graded.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What you write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Four functions the simulator calls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You write these. You never call them yourself.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731520" y="20116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5f7fa"/>
                </a:solidFill>
                <a:latin typeface="Consolas"/>
                <a:ea typeface="Consolas"/>
              </a:rPr>
              <a:t>Create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3383280" y="199332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Set up your scheduler's state. Add whatever your policy needs: a queue of waiting jobs, the job currently running, when it started.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21" name="Shape 5"/>
          <p:cNvSpPr/>
          <p:nvPr/>
        </p:nvSpPr>
        <p:spPr>
          <a:xfrm>
            <a:off x="731520" y="288036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6"/>
          <p:cNvSpPr/>
          <p:nvPr/>
        </p:nvSpPr>
        <p:spPr>
          <a:xfrm>
            <a:off x="731520" y="30175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5f7fa"/>
                </a:solidFill>
                <a:latin typeface="Consolas"/>
                <a:ea typeface="Consolas"/>
              </a:rPr>
              <a:t>Destroy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3383280" y="299916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Free everything your scheduler allocated.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24" name="Shape 8"/>
          <p:cNvSpPr/>
          <p:nvPr/>
        </p:nvSpPr>
        <p:spPr>
          <a:xfrm>
            <a:off x="731520" y="388620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9"/>
          <p:cNvSpPr/>
          <p:nvPr/>
        </p:nvSpPr>
        <p:spPr>
          <a:xfrm>
            <a:off x="731520" y="40233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0a93b"/>
                </a:solidFill>
                <a:latin typeface="Consolas"/>
                <a:ea typeface="Consolas"/>
              </a:rPr>
              <a:t>ScheduleJob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6" name="Text 10"/>
          <p:cNvSpPr/>
          <p:nvPr/>
        </p:nvSpPr>
        <p:spPr>
          <a:xfrm>
            <a:off x="3383280" y="400500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A job just arrived. Start it, make it wait, or take the CPU from what is running.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27" name="Shape 11"/>
          <p:cNvSpPr/>
          <p:nvPr/>
        </p:nvSpPr>
        <p:spPr>
          <a:xfrm>
            <a:off x="731520" y="489204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2"/>
          <p:cNvSpPr/>
          <p:nvPr/>
        </p:nvSpPr>
        <p:spPr>
          <a:xfrm>
            <a:off x="731520" y="502920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0a93b"/>
                </a:solidFill>
                <a:latin typeface="Consolas"/>
                <a:ea typeface="Consolas"/>
              </a:rPr>
              <a:t>CompleteJob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9" name="Text 13"/>
          <p:cNvSpPr/>
          <p:nvPr/>
        </p:nvSpPr>
        <p:spPr>
          <a:xfrm>
            <a:off x="3383280" y="501084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A moment you asked for has arrived. Return the job that finished, if one did, and choose what runs next.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In schedulerFCFS.c they are named schedulerFCFSCreate, schedulerFCFSScheduleJob, and so on. Four functions, four files.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What you write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Two functions you call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Your scheduler talks back to the simulator through these.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34" name="Shape 3"/>
          <p:cNvSpPr/>
          <p:nvPr/>
        </p:nvSpPr>
        <p:spPr>
          <a:xfrm>
            <a:off x="731520" y="2011680"/>
            <a:ext cx="10698120" cy="1325520"/>
          </a:xfrm>
          <a:prstGeom prst="rect">
            <a:avLst/>
          </a:prstGeom>
          <a:solidFill>
            <a:srgbClr val="212429"/>
          </a:solidFill>
          <a:ln w="25400">
            <a:solidFill>
              <a:srgbClr val="f0a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4"/>
          <p:cNvSpPr/>
          <p:nvPr/>
        </p:nvSpPr>
        <p:spPr>
          <a:xfrm>
            <a:off x="1051560" y="217620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schedulerScheduleNextCompletion(scheduler, time)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36" name="Text 5"/>
          <p:cNvSpPr/>
          <p:nvPr/>
        </p:nvSpPr>
        <p:spPr>
          <a:xfrm>
            <a:off x="1051560" y="26334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Ask the simulator to call your CompleteJob at that time. An absolute time, not a duration. Only one may be outstanding at once.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37" name="Shape 6"/>
          <p:cNvSpPr/>
          <p:nvPr/>
        </p:nvSpPr>
        <p:spPr>
          <a:xfrm>
            <a:off x="731520" y="3566160"/>
            <a:ext cx="10698120" cy="1325520"/>
          </a:xfrm>
          <a:prstGeom prst="rect">
            <a:avLst/>
          </a:prstGeom>
          <a:solidFill>
            <a:srgbClr val="212429"/>
          </a:solidFill>
          <a:ln w="25400">
            <a:solidFill>
              <a:srgbClr val="5b8d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7"/>
          <p:cNvSpPr/>
          <p:nvPr/>
        </p:nvSpPr>
        <p:spPr>
          <a:xfrm>
            <a:off x="1051560" y="373068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5b8def"/>
                </a:solidFill>
                <a:latin typeface="Consolas"/>
                <a:ea typeface="Consolas"/>
              </a:rPr>
              <a:t>schedulerCancelNextCompletion(scheduler)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39" name="Text 8"/>
          <p:cNvSpPr/>
          <p:nvPr/>
        </p:nvSpPr>
        <p:spPr>
          <a:xfrm>
            <a:off x="1051560" y="4187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Take that request back before it fires. Only ever needed when you take the CPU from a running job.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40" name="Text 9"/>
          <p:cNvSpPr/>
          <p:nvPr/>
        </p:nvSpPr>
        <p:spPr>
          <a:xfrm>
            <a:off x="731520" y="51663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5f7fa"/>
                </a:solidFill>
                <a:latin typeface="Calibri"/>
                <a:ea typeface="Calibri"/>
              </a:rPr>
              <a:t>Everything else you use is your own code: your linked list, the accessor functions in job.h, and malloc and free.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41" name="Text 10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You should not need anything else from the provided code.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Worked example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One run, event by event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731520" y="1389960"/>
            <a:ext cx="640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The same three jobs as the Example slide, run under FCFS.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731520" y="2011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0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46" name="Text 4"/>
          <p:cNvSpPr/>
          <p:nvPr/>
        </p:nvSpPr>
        <p:spPr>
          <a:xfrm>
            <a:off x="1371600" y="201168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job 1 arrives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3657600" y="195696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Nothing is running, so you start job 1 and ask to be called back at 0 + 3.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3657600" y="2286000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Shape 7"/>
          <p:cNvSpPr/>
          <p:nvPr/>
        </p:nvSpPr>
        <p:spPr>
          <a:xfrm>
            <a:off x="731520" y="258768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8"/>
          <p:cNvSpPr/>
          <p:nvPr/>
        </p:nvSpPr>
        <p:spPr>
          <a:xfrm>
            <a:off x="731520" y="2679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1371600" y="267912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job 2 arrives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3657600" y="262440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Job 1 is still running, so job 2 goes into your queue and waits.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53" name="Text 11"/>
          <p:cNvSpPr/>
          <p:nvPr/>
        </p:nvSpPr>
        <p:spPr>
          <a:xfrm>
            <a:off x="3657600" y="2953440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You ask for nothing.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4" name="Shape 12"/>
          <p:cNvSpPr/>
          <p:nvPr/>
        </p:nvSpPr>
        <p:spPr>
          <a:xfrm>
            <a:off x="731520" y="325512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13"/>
          <p:cNvSpPr/>
          <p:nvPr/>
        </p:nvSpPr>
        <p:spPr>
          <a:xfrm>
            <a:off x="731520" y="3346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56" name="Text 14"/>
          <p:cNvSpPr/>
          <p:nvPr/>
        </p:nvSpPr>
        <p:spPr>
          <a:xfrm>
            <a:off x="1371600" y="334656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job 3 arrives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7" name="Text 15"/>
          <p:cNvSpPr/>
          <p:nvPr/>
        </p:nvSpPr>
        <p:spPr>
          <a:xfrm>
            <a:off x="3657600" y="329184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Job 1 is still running, so job 3 waits too.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58" name="Text 16"/>
          <p:cNvSpPr/>
          <p:nvPr/>
        </p:nvSpPr>
        <p:spPr>
          <a:xfrm>
            <a:off x="3657600" y="3620880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You ask for nothing.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9" name="Shape 17"/>
          <p:cNvSpPr/>
          <p:nvPr/>
        </p:nvSpPr>
        <p:spPr>
          <a:xfrm>
            <a:off x="731520" y="392256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18"/>
          <p:cNvSpPr/>
          <p:nvPr/>
        </p:nvSpPr>
        <p:spPr>
          <a:xfrm>
            <a:off x="731520" y="40143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3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61" name="Text 19"/>
          <p:cNvSpPr/>
          <p:nvPr/>
        </p:nvSpPr>
        <p:spPr>
          <a:xfrm>
            <a:off x="1371600" y="401436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a93b"/>
                </a:solidFill>
                <a:latin typeface="Consolas"/>
                <a:ea typeface="Consolas"/>
              </a:rPr>
              <a:t>job 1 finishes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3657600" y="39592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You return job 1, and its completion time is recorded. Job 2 arrived first, so it runs next: 3 + 1.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63" name="Text 21"/>
          <p:cNvSpPr/>
          <p:nvPr/>
        </p:nvSpPr>
        <p:spPr>
          <a:xfrm>
            <a:off x="3657600" y="4288680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Shape 22"/>
          <p:cNvSpPr/>
          <p:nvPr/>
        </p:nvSpPr>
        <p:spPr>
          <a:xfrm>
            <a:off x="731520" y="459000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23"/>
          <p:cNvSpPr/>
          <p:nvPr/>
        </p:nvSpPr>
        <p:spPr>
          <a:xfrm>
            <a:off x="731520" y="4681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4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66" name="Text 24"/>
          <p:cNvSpPr/>
          <p:nvPr/>
        </p:nvSpPr>
        <p:spPr>
          <a:xfrm>
            <a:off x="1371600" y="468180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a93b"/>
                </a:solidFill>
                <a:latin typeface="Consolas"/>
                <a:ea typeface="Consolas"/>
              </a:rPr>
              <a:t>job 2 finishes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7" name="Text 25"/>
          <p:cNvSpPr/>
          <p:nvPr/>
        </p:nvSpPr>
        <p:spPr>
          <a:xfrm>
            <a:off x="3657600" y="462672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You return job 2 and start job 3: 4 + 2.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68" name="Text 26"/>
          <p:cNvSpPr/>
          <p:nvPr/>
        </p:nvSpPr>
        <p:spPr>
          <a:xfrm>
            <a:off x="3657600" y="4956120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Shape 27"/>
          <p:cNvSpPr/>
          <p:nvPr/>
        </p:nvSpPr>
        <p:spPr>
          <a:xfrm>
            <a:off x="731520" y="5257800"/>
            <a:ext cx="1069848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28"/>
          <p:cNvSpPr/>
          <p:nvPr/>
        </p:nvSpPr>
        <p:spPr>
          <a:xfrm>
            <a:off x="731520" y="5349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0a93b"/>
                </a:solidFill>
                <a:latin typeface="Consolas"/>
                <a:ea typeface="Consolas"/>
              </a:rPr>
              <a:t>6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71" name="Text 29"/>
          <p:cNvSpPr/>
          <p:nvPr/>
        </p:nvSpPr>
        <p:spPr>
          <a:xfrm>
            <a:off x="1371600" y="534924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a93b"/>
                </a:solidFill>
                <a:latin typeface="Consolas"/>
                <a:ea typeface="Consolas"/>
              </a:rPr>
              <a:t>job 3 finishes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2" name="Text 30"/>
          <p:cNvSpPr/>
          <p:nvPr/>
        </p:nvSpPr>
        <p:spPr>
          <a:xfrm>
            <a:off x="3657600" y="529452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7fa"/>
                </a:solidFill>
                <a:latin typeface="Calibri"/>
                <a:ea typeface="Calibri"/>
              </a:rPr>
              <a:t>You return job 3. Nothing is waiting, so you ask for nothing.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73" name="Text 31"/>
          <p:cNvSpPr/>
          <p:nvPr/>
        </p:nvSpPr>
        <p:spPr>
          <a:xfrm>
            <a:off x="3657600" y="5623560"/>
            <a:ext cx="7772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There is nothing left to do, and the run ends.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4" name="Text 32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Between these rows, none of your code is running. It waits to be called again.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01" name="Trace Strip"/>
          <p:cNvSpPr/>
          <p:nvPr/>
        </p:nvSpPr>
        <p:spPr>
          <a:xfrm>
            <a:off x="7400000" y="1400000"/>
            <a:ext cx="402964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5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2acb6"/>
                </a:solidFill>
                <a:latin typeface="Consolas"/>
                <a:ea typeface="Consolas"/>
              </a:rPr>
              <a:t>job_id,arrival_time,job_size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f7fa"/>
                </a:solidFill>
                <a:latin typeface="Consolas"/>
                <a:ea typeface="Consolas"/>
              </a:rPr>
              <a:t>1,0,3   2,1,1   3,2,2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MLFQ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How MLFQ decides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Jobs sit at priority levels. A job runs a short turn, then may drop a level.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731520" y="2100000"/>
            <a:ext cx="270000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0a93b"/>
                </a:solidFill>
                <a:latin typeface="Trebuchet MS"/>
                <a:ea typeface="Trebuchet MS"/>
              </a:rPr>
              <a:t>The levels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3657600" y="2100000"/>
            <a:ext cx="777204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2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Smaller number means higher priority. New jobs start at level 0, and can keep dropping as far as needed.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731520" y="2960000"/>
            <a:ext cx="270000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0a93b"/>
                </a:solidFill>
                <a:latin typeface="Trebuchet MS"/>
                <a:ea typeface="Trebuchet MS"/>
              </a:rPr>
              <a:t>One turn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85" name="Text 10"/>
          <p:cNvSpPr/>
          <p:nvPr/>
        </p:nvSpPr>
        <p:spPr>
          <a:xfrm>
            <a:off x="3657600" y="2960000"/>
            <a:ext cx="777204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2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A job gets one unit of time, or less if that is all the work it has left.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8" name="Text 13"/>
          <p:cNvSpPr/>
          <p:nvPr/>
        </p:nvSpPr>
        <p:spPr>
          <a:xfrm>
            <a:off x="731520" y="3820000"/>
            <a:ext cx="270000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0a93b"/>
                </a:solidFill>
                <a:latin typeface="Trebuchet MS"/>
                <a:ea typeface="Trebuchet MS"/>
              </a:rPr>
              <a:t>When the turn ends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89" name="Text 14"/>
          <p:cNvSpPr/>
          <p:nvPr/>
        </p:nvSpPr>
        <p:spPr>
          <a:xfrm>
            <a:off x="3657600" y="3820000"/>
            <a:ext cx="777204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2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Work finished: the job leaves.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2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Work remaining: it drops one level.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731520" y="4680000"/>
            <a:ext cx="270000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0a93b"/>
                </a:solidFill>
                <a:latin typeface="Trebuchet MS"/>
                <a:ea typeface="Trebuchet MS"/>
              </a:rPr>
              <a:t>Who goes next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3657600" y="4680000"/>
            <a:ext cx="7772040" cy="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2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a2acb6"/>
                </a:solidFill>
                <a:latin typeface="Calibri"/>
                <a:ea typeface="Calibri"/>
              </a:rPr>
              <a:t>Within a level, jobs take turns in the order they joined it. A new job at level 0 interrupts a job running lower down.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4" name="Text 19"/>
          <p:cNvSpPr/>
          <p:nvPr/>
        </p:nvSpPr>
        <p:spPr>
          <a:xfrm>
            <a:off x="731520" y="56235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Real MLFQ schedulers add features like priority boosting and aging. We do not use any of them in this project.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95" name="Text 20"/>
          <p:cNvSpPr/>
          <p:nvPr/>
        </p:nvSpPr>
        <p:spPr>
          <a:xfrm>
            <a:off x="731520" y="605340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0a93b"/>
                </a:solidFill>
                <a:latin typeface="Calibri"/>
                <a:ea typeface="Calibri"/>
              </a:rPr>
              <a:t>Nothing updates a job's remaining time for you. Track it yourself, and reach jobs through the job.h functions.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701" name="Sep 0"/>
          <p:cNvSpPr/>
          <p:nvPr/>
        </p:nvSpPr>
        <p:spPr>
          <a:xfrm>
            <a:off x="731520" y="2880000"/>
            <a:ext cx="1069812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2" name="Sep 1"/>
          <p:cNvSpPr/>
          <p:nvPr/>
        </p:nvSpPr>
        <p:spPr>
          <a:xfrm>
            <a:off x="731520" y="3740000"/>
            <a:ext cx="1069812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3" name="Sep 2"/>
          <p:cNvSpPr/>
          <p:nvPr/>
        </p:nvSpPr>
        <p:spPr>
          <a:xfrm>
            <a:off x="731520" y="4600000"/>
            <a:ext cx="10698120" cy="360"/>
          </a:xfrm>
          <a:prstGeom prst="line">
            <a:avLst/>
          </a:prstGeom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MLFQ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Watch the jobs sink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Three jobs: job 1 needs 4, job 2 needs 2, job 3 needs 1. Each column is one unit of simulator time.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731520" y="237744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0a93b"/>
                </a:solidFill>
                <a:latin typeface="Calibri"/>
                <a:ea typeface="Calibri"/>
              </a:rPr>
              <a:t>level 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0" name="Shape 4"/>
          <p:cNvSpPr/>
          <p:nvPr/>
        </p:nvSpPr>
        <p:spPr>
          <a:xfrm>
            <a:off x="2286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Shape 5"/>
          <p:cNvSpPr/>
          <p:nvPr/>
        </p:nvSpPr>
        <p:spPr>
          <a:xfrm>
            <a:off x="3429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6"/>
          <p:cNvSpPr/>
          <p:nvPr/>
        </p:nvSpPr>
        <p:spPr>
          <a:xfrm>
            <a:off x="4572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Shape 7"/>
          <p:cNvSpPr/>
          <p:nvPr/>
        </p:nvSpPr>
        <p:spPr>
          <a:xfrm>
            <a:off x="5715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Shape 8"/>
          <p:cNvSpPr/>
          <p:nvPr/>
        </p:nvSpPr>
        <p:spPr>
          <a:xfrm>
            <a:off x="6858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9"/>
          <p:cNvSpPr/>
          <p:nvPr/>
        </p:nvSpPr>
        <p:spPr>
          <a:xfrm>
            <a:off x="8001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10"/>
          <p:cNvSpPr/>
          <p:nvPr/>
        </p:nvSpPr>
        <p:spPr>
          <a:xfrm>
            <a:off x="9144000" y="237744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11"/>
          <p:cNvSpPr/>
          <p:nvPr/>
        </p:nvSpPr>
        <p:spPr>
          <a:xfrm>
            <a:off x="731520" y="303588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level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8" name="Shape 12"/>
          <p:cNvSpPr/>
          <p:nvPr/>
        </p:nvSpPr>
        <p:spPr>
          <a:xfrm>
            <a:off x="2286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Shape 13"/>
          <p:cNvSpPr/>
          <p:nvPr/>
        </p:nvSpPr>
        <p:spPr>
          <a:xfrm>
            <a:off x="3429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Shape 14"/>
          <p:cNvSpPr/>
          <p:nvPr/>
        </p:nvSpPr>
        <p:spPr>
          <a:xfrm>
            <a:off x="4572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Shape 15"/>
          <p:cNvSpPr/>
          <p:nvPr/>
        </p:nvSpPr>
        <p:spPr>
          <a:xfrm>
            <a:off x="5715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Shape 16"/>
          <p:cNvSpPr/>
          <p:nvPr/>
        </p:nvSpPr>
        <p:spPr>
          <a:xfrm>
            <a:off x="6858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Shape 17"/>
          <p:cNvSpPr/>
          <p:nvPr/>
        </p:nvSpPr>
        <p:spPr>
          <a:xfrm>
            <a:off x="8001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Shape 18"/>
          <p:cNvSpPr/>
          <p:nvPr/>
        </p:nvSpPr>
        <p:spPr>
          <a:xfrm>
            <a:off x="9144000" y="303588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19"/>
          <p:cNvSpPr/>
          <p:nvPr/>
        </p:nvSpPr>
        <p:spPr>
          <a:xfrm>
            <a:off x="731520" y="369432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level 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6" name="Shape 20"/>
          <p:cNvSpPr/>
          <p:nvPr/>
        </p:nvSpPr>
        <p:spPr>
          <a:xfrm>
            <a:off x="2286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21"/>
          <p:cNvSpPr/>
          <p:nvPr/>
        </p:nvSpPr>
        <p:spPr>
          <a:xfrm>
            <a:off x="3429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Shape 22"/>
          <p:cNvSpPr/>
          <p:nvPr/>
        </p:nvSpPr>
        <p:spPr>
          <a:xfrm>
            <a:off x="4572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Shape 23"/>
          <p:cNvSpPr/>
          <p:nvPr/>
        </p:nvSpPr>
        <p:spPr>
          <a:xfrm>
            <a:off x="5715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Shape 24"/>
          <p:cNvSpPr/>
          <p:nvPr/>
        </p:nvSpPr>
        <p:spPr>
          <a:xfrm>
            <a:off x="6858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Shape 25"/>
          <p:cNvSpPr/>
          <p:nvPr/>
        </p:nvSpPr>
        <p:spPr>
          <a:xfrm>
            <a:off x="8001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Shape 26"/>
          <p:cNvSpPr/>
          <p:nvPr/>
        </p:nvSpPr>
        <p:spPr>
          <a:xfrm>
            <a:off x="9144000" y="369432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Text 27"/>
          <p:cNvSpPr/>
          <p:nvPr/>
        </p:nvSpPr>
        <p:spPr>
          <a:xfrm>
            <a:off x="731520" y="4352400"/>
            <a:ext cx="1371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a2acb6"/>
                </a:solidFill>
                <a:latin typeface="Calibri"/>
                <a:ea typeface="Calibri"/>
              </a:rPr>
              <a:t>level 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4" name="Shape 28"/>
          <p:cNvSpPr/>
          <p:nvPr/>
        </p:nvSpPr>
        <p:spPr>
          <a:xfrm>
            <a:off x="2286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Shape 29"/>
          <p:cNvSpPr/>
          <p:nvPr/>
        </p:nvSpPr>
        <p:spPr>
          <a:xfrm>
            <a:off x="3429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30"/>
          <p:cNvSpPr/>
          <p:nvPr/>
        </p:nvSpPr>
        <p:spPr>
          <a:xfrm>
            <a:off x="4572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Shape 31"/>
          <p:cNvSpPr/>
          <p:nvPr/>
        </p:nvSpPr>
        <p:spPr>
          <a:xfrm>
            <a:off x="5715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Shape 32"/>
          <p:cNvSpPr/>
          <p:nvPr/>
        </p:nvSpPr>
        <p:spPr>
          <a:xfrm>
            <a:off x="6858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3"/>
          <p:cNvSpPr/>
          <p:nvPr/>
        </p:nvSpPr>
        <p:spPr>
          <a:xfrm>
            <a:off x="8001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Shape 34"/>
          <p:cNvSpPr/>
          <p:nvPr/>
        </p:nvSpPr>
        <p:spPr>
          <a:xfrm>
            <a:off x="9144000" y="4352400"/>
            <a:ext cx="1142640" cy="658080"/>
          </a:xfrm>
          <a:prstGeom prst="rect">
            <a:avLst/>
          </a:prstGeom>
          <a:solidFill>
            <a:srgbClr val="1d2025"/>
          </a:solidFill>
          <a:ln w="12700">
            <a:solidFill>
              <a:srgbClr val="262a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35"/>
          <p:cNvSpPr/>
          <p:nvPr/>
        </p:nvSpPr>
        <p:spPr>
          <a:xfrm>
            <a:off x="731520" y="2066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a93b"/>
                </a:solidFill>
                <a:latin typeface="Calibri"/>
                <a:ea typeface="Calibri"/>
              </a:rPr>
              <a:t>highest priority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2" name="Text 36"/>
          <p:cNvSpPr/>
          <p:nvPr/>
        </p:nvSpPr>
        <p:spPr>
          <a:xfrm>
            <a:off x="1965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3" name="Text 37"/>
          <p:cNvSpPr/>
          <p:nvPr/>
        </p:nvSpPr>
        <p:spPr>
          <a:xfrm>
            <a:off x="3108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4" name="Text 38"/>
          <p:cNvSpPr/>
          <p:nvPr/>
        </p:nvSpPr>
        <p:spPr>
          <a:xfrm>
            <a:off x="4251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5" name="Text 39"/>
          <p:cNvSpPr/>
          <p:nvPr/>
        </p:nvSpPr>
        <p:spPr>
          <a:xfrm>
            <a:off x="5394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6" name="Text 40"/>
          <p:cNvSpPr/>
          <p:nvPr/>
        </p:nvSpPr>
        <p:spPr>
          <a:xfrm>
            <a:off x="6537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4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7" name="Text 41"/>
          <p:cNvSpPr/>
          <p:nvPr/>
        </p:nvSpPr>
        <p:spPr>
          <a:xfrm>
            <a:off x="7680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8" name="Text 42"/>
          <p:cNvSpPr/>
          <p:nvPr/>
        </p:nvSpPr>
        <p:spPr>
          <a:xfrm>
            <a:off x="8823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6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9" name="Text 43"/>
          <p:cNvSpPr/>
          <p:nvPr/>
        </p:nvSpPr>
        <p:spPr>
          <a:xfrm>
            <a:off x="9966960" y="51022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2acb6"/>
                </a:solidFill>
                <a:latin typeface="Consolas"/>
                <a:ea typeface="Consolas"/>
              </a:rPr>
              <a:t>7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0" name="Text 44"/>
          <p:cNvSpPr/>
          <p:nvPr/>
        </p:nvSpPr>
        <p:spPr>
          <a:xfrm>
            <a:off x="1417320" y="5102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2acb6"/>
                </a:solidFill>
                <a:latin typeface="Calibri"/>
                <a:ea typeface="Calibri"/>
              </a:rPr>
              <a:t>time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1" name="Text 45"/>
          <p:cNvSpPr/>
          <p:nvPr/>
        </p:nvSpPr>
        <p:spPr>
          <a:xfrm>
            <a:off x="2011680" y="181044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a93b"/>
                </a:solidFill>
                <a:latin typeface="Calibri"/>
                <a:ea typeface="Calibri"/>
              </a:rPr>
              <a:t>job 1 arrives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2" name="Text 46"/>
          <p:cNvSpPr/>
          <p:nvPr/>
        </p:nvSpPr>
        <p:spPr>
          <a:xfrm>
            <a:off x="3154680" y="181044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8def"/>
                </a:solidFill>
                <a:latin typeface="Calibri"/>
                <a:ea typeface="Calibri"/>
              </a:rPr>
              <a:t>job 2 arrives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3" name="Text 47"/>
          <p:cNvSpPr/>
          <p:nvPr/>
        </p:nvSpPr>
        <p:spPr>
          <a:xfrm>
            <a:off x="7726680" y="181044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bc96f"/>
                </a:solidFill>
                <a:latin typeface="Calibri"/>
                <a:ea typeface="Calibri"/>
              </a:rPr>
              <a:t>job 3 arrives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4" name="Text 48"/>
          <p:cNvSpPr/>
          <p:nvPr/>
        </p:nvSpPr>
        <p:spPr>
          <a:xfrm>
            <a:off x="2322720" y="2414160"/>
            <a:ext cx="1069560" cy="5850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5" name="Text 49"/>
          <p:cNvSpPr/>
          <p:nvPr/>
        </p:nvSpPr>
        <p:spPr>
          <a:xfrm>
            <a:off x="3465720" y="2414160"/>
            <a:ext cx="1069560" cy="58500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6" name="Text 50"/>
          <p:cNvSpPr/>
          <p:nvPr/>
        </p:nvSpPr>
        <p:spPr>
          <a:xfrm>
            <a:off x="4608720" y="3072240"/>
            <a:ext cx="1069560" cy="5850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7" name="Text 51"/>
          <p:cNvSpPr/>
          <p:nvPr/>
        </p:nvSpPr>
        <p:spPr>
          <a:xfrm>
            <a:off x="5751720" y="3072240"/>
            <a:ext cx="1069560" cy="58500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8" name="Text 52"/>
          <p:cNvSpPr/>
          <p:nvPr/>
        </p:nvSpPr>
        <p:spPr>
          <a:xfrm>
            <a:off x="6291000" y="5394960"/>
            <a:ext cx="113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b8def"/>
                </a:solidFill>
                <a:latin typeface="Trebuchet MS"/>
                <a:ea typeface="Trebuchet MS"/>
              </a:rPr>
              <a:t>job 2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ts val="15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b8def"/>
                </a:solidFill>
                <a:latin typeface="Trebuchet MS"/>
                <a:ea typeface="Trebuchet MS"/>
              </a:rPr>
              <a:t>done @ 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9" name="Text 53"/>
          <p:cNvSpPr/>
          <p:nvPr/>
        </p:nvSpPr>
        <p:spPr>
          <a:xfrm>
            <a:off x="6894720" y="3730680"/>
            <a:ext cx="1069560" cy="5850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0" name="Text 54"/>
          <p:cNvSpPr/>
          <p:nvPr/>
        </p:nvSpPr>
        <p:spPr>
          <a:xfrm>
            <a:off x="8037720" y="2414160"/>
            <a:ext cx="1069560" cy="585000"/>
          </a:xfrm>
          <a:prstGeom prst="rect">
            <a:avLst/>
          </a:prstGeom>
          <a:solidFill>
            <a:srgbClr val="7bc9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1" name="Text 55"/>
          <p:cNvSpPr/>
          <p:nvPr/>
        </p:nvSpPr>
        <p:spPr>
          <a:xfrm>
            <a:off x="8577000" y="5394960"/>
            <a:ext cx="113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7bc96f"/>
                </a:solidFill>
                <a:latin typeface="Trebuchet MS"/>
                <a:ea typeface="Trebuchet MS"/>
              </a:rPr>
              <a:t>job 3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ts val="15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7bc96f"/>
                </a:solidFill>
                <a:latin typeface="Trebuchet MS"/>
                <a:ea typeface="Trebuchet MS"/>
              </a:rPr>
              <a:t>done @ 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2" name="Text 56"/>
          <p:cNvSpPr/>
          <p:nvPr/>
        </p:nvSpPr>
        <p:spPr>
          <a:xfrm>
            <a:off x="9180720" y="4389120"/>
            <a:ext cx="1069560" cy="58500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7191c"/>
                </a:solidFill>
                <a:latin typeface="Trebuchet MS"/>
                <a:ea typeface="Trebuchet MS"/>
              </a:rPr>
              <a:t>job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3" name="Text 57"/>
          <p:cNvSpPr/>
          <p:nvPr/>
        </p:nvSpPr>
        <p:spPr>
          <a:xfrm>
            <a:off x="9720000" y="5394960"/>
            <a:ext cx="113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5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a93b"/>
                </a:solidFill>
                <a:latin typeface="Trebuchet MS"/>
                <a:ea typeface="Trebuchet MS"/>
              </a:rPr>
              <a:t>job 1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ts val="15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a93b"/>
                </a:solidFill>
                <a:latin typeface="Trebuchet MS"/>
                <a:ea typeface="Trebuchet MS"/>
              </a:rPr>
              <a:t>done @ 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4" name="Text 58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A job runs one unit, then drops a level. A new job enters at level 0 and takes over from anything deeper.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Constraints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Rules your code must follow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57" name="Shape 2"/>
          <p:cNvSpPr/>
          <p:nvPr/>
        </p:nvSpPr>
        <p:spPr>
          <a:xfrm>
            <a:off x="731520" y="2249280"/>
            <a:ext cx="118440" cy="118440"/>
          </a:xfrm>
          <a:prstGeom prst="rect">
            <a:avLst/>
          </a:prstGeom>
          <a:solidFill>
            <a:srgbClr val="5a63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Text 3"/>
          <p:cNvSpPr/>
          <p:nvPr/>
        </p:nvSpPr>
        <p:spPr>
          <a:xfrm>
            <a:off x="1143000" y="2066400"/>
            <a:ext cx="10332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At most one completion event scheduled at a time.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59" name="Shape 4"/>
          <p:cNvSpPr/>
          <p:nvPr/>
        </p:nvSpPr>
        <p:spPr>
          <a:xfrm>
            <a:off x="731520" y="2797920"/>
            <a:ext cx="118440" cy="118440"/>
          </a:xfrm>
          <a:prstGeom prst="rect">
            <a:avLst/>
          </a:prstGeom>
          <a:solidFill>
            <a:srgbClr val="5a63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Text 5"/>
          <p:cNvSpPr/>
          <p:nvPr/>
        </p:nvSpPr>
        <p:spPr>
          <a:xfrm>
            <a:off x="1143000" y="2615040"/>
            <a:ext cx="10332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Completions run before arrivals at equal times, so a waiting job can start before an arrival is even seen.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61" name="Shape 6"/>
          <p:cNvSpPr/>
          <p:nvPr/>
        </p:nvSpPr>
        <p:spPr>
          <a:xfrm>
            <a:off x="731520" y="3346560"/>
            <a:ext cx="118440" cy="118440"/>
          </a:xfrm>
          <a:prstGeom prst="rect">
            <a:avLst/>
          </a:prstGeom>
          <a:solidFill>
            <a:srgbClr val="5a63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Text 7"/>
          <p:cNvSpPr/>
          <p:nvPr/>
        </p:nvSpPr>
        <p:spPr>
          <a:xfrm>
            <a:off x="1143000" y="3163680"/>
            <a:ext cx="10332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Ties are broken by the smaller job id.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63" name="Shape 8"/>
          <p:cNvSpPr/>
          <p:nvPr/>
        </p:nvSpPr>
        <p:spPr>
          <a:xfrm>
            <a:off x="731520" y="3895200"/>
            <a:ext cx="118440" cy="118440"/>
          </a:xfrm>
          <a:prstGeom prst="rect">
            <a:avLst/>
          </a:prstGeom>
          <a:solidFill>
            <a:srgbClr val="5a63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Text 9"/>
          <p:cNvSpPr/>
          <p:nvPr/>
        </p:nvSpPr>
        <p:spPr>
          <a:xfrm>
            <a:off x="1143000" y="3712320"/>
            <a:ext cx="10332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Job sizes may be zero. Such a job completes the moment it is selected.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65" name="Shape 10"/>
          <p:cNvSpPr/>
          <p:nvPr/>
        </p:nvSpPr>
        <p:spPr>
          <a:xfrm>
            <a:off x="731520" y="4443840"/>
            <a:ext cx="118440" cy="118440"/>
          </a:xfrm>
          <a:prstGeom prst="rect">
            <a:avLst/>
          </a:prstGeom>
          <a:solidFill>
            <a:srgbClr val="5a63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Text 11"/>
          <p:cNvSpPr/>
          <p:nvPr/>
        </p:nvSpPr>
        <p:spPr>
          <a:xfrm>
            <a:off x="1143000" y="4260960"/>
            <a:ext cx="10332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Reach jobs through the job.h functions. Grading renames the struct fields, so direct access will not compile.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731520" y="4992480"/>
            <a:ext cx="118440" cy="11844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Text 13"/>
          <p:cNvSpPr/>
          <p:nvPr/>
        </p:nvSpPr>
        <p:spPr>
          <a:xfrm>
            <a:off x="1143000" y="4809600"/>
            <a:ext cx="10332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5f7fa"/>
                </a:solidFill>
                <a:latin typeface="Calibri"/>
                <a:ea typeface="Calibri"/>
              </a:rPr>
              <a:t>No memory leaks or errors under Valgrind, the memory checker grading runs.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69" name="Text 14"/>
          <p:cNvSpPr/>
          <p:nvPr/>
        </p:nvSpPr>
        <p:spPr>
          <a:xfrm>
            <a:off x="731520" y="58978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0a93b"/>
                </a:solidFill>
                <a:latin typeface="Calibri"/>
                <a:ea typeface="Calibri"/>
              </a:rPr>
              <a:t>Memory correctness is half the grade, not a cleanup step. Run Valgrind as soon as FCFS works.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Text 0"/>
          <p:cNvSpPr/>
          <p:nvPr/>
        </p:nvSpPr>
        <p:spPr>
          <a:xfrm>
            <a:off x="731520" y="411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2acb6"/>
                </a:solidFill>
                <a:latin typeface="Calibri"/>
                <a:ea typeface="Calibri"/>
              </a:rPr>
              <a:t>Getting started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1" name="Text 1"/>
          <p:cNvSpPr/>
          <p:nvPr/>
        </p:nvSpPr>
        <p:spPr>
          <a:xfrm>
            <a:off x="731520" y="71316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5f7fa"/>
                </a:solidFill>
                <a:latin typeface="Trebuchet MS"/>
                <a:ea typeface="Trebuchet MS"/>
              </a:rPr>
              <a:t>How to start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72" name="Text 2"/>
          <p:cNvSpPr/>
          <p:nvPr/>
        </p:nvSpPr>
        <p:spPr>
          <a:xfrm>
            <a:off x="731520" y="13899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a2acb6"/>
                </a:solidFill>
                <a:latin typeface="Calibri"/>
                <a:ea typeface="Calibri"/>
              </a:rPr>
              <a:t>Work in this order.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73" name="Shape 3"/>
          <p:cNvSpPr/>
          <p:nvPr/>
        </p:nvSpPr>
        <p:spPr>
          <a:xfrm>
            <a:off x="731520" y="2057400"/>
            <a:ext cx="548280" cy="54828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Text 4"/>
          <p:cNvSpPr/>
          <p:nvPr/>
        </p:nvSpPr>
        <p:spPr>
          <a:xfrm>
            <a:off x="731520" y="20574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7191c"/>
                </a:solidFill>
                <a:latin typeface="Trebuchet MS"/>
                <a:ea typeface="Trebuchet MS"/>
              </a:rPr>
              <a:t>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75" name="Text 5"/>
          <p:cNvSpPr/>
          <p:nvPr/>
        </p:nvSpPr>
        <p:spPr>
          <a:xfrm>
            <a:off x="1508760" y="202068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5f7fa"/>
                </a:solidFill>
                <a:latin typeface="Trebuchet MS"/>
                <a:ea typeface="Trebuchet MS"/>
              </a:rPr>
              <a:t>Implement the linked list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76" name="Text 6"/>
          <p:cNvSpPr/>
          <p:nvPr/>
        </p:nvSpPr>
        <p:spPr>
          <a:xfrm>
            <a:off x="1508760" y="24415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Run make, then ./linked_list_test, before you write any scheduler code.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77" name="Shape 7"/>
          <p:cNvSpPr/>
          <p:nvPr/>
        </p:nvSpPr>
        <p:spPr>
          <a:xfrm>
            <a:off x="731520" y="3154680"/>
            <a:ext cx="548280" cy="54828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8"/>
          <p:cNvSpPr/>
          <p:nvPr/>
        </p:nvSpPr>
        <p:spPr>
          <a:xfrm>
            <a:off x="731520" y="3154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7191c"/>
                </a:solidFill>
                <a:latin typeface="Trebuchet MS"/>
                <a:ea typeface="Trebuchet MS"/>
              </a:rPr>
              <a:t>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79" name="Text 9"/>
          <p:cNvSpPr/>
          <p:nvPr/>
        </p:nvSpPr>
        <p:spPr>
          <a:xfrm>
            <a:off x="1508760" y="311796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5f7fa"/>
                </a:solidFill>
                <a:latin typeface="Trebuchet MS"/>
                <a:ea typeface="Trebuchet MS"/>
              </a:rPr>
              <a:t>Get one FCFS trace passing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80" name="Text 10"/>
          <p:cNvSpPr/>
          <p:nvPr/>
        </p:nvSpPr>
        <p:spPr>
          <a:xfrm>
            <a:off x="1508760" y="35388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Run it, diff it against the expected output, and read the difference.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81" name="Shape 11"/>
          <p:cNvSpPr/>
          <p:nvPr/>
        </p:nvSpPr>
        <p:spPr>
          <a:xfrm>
            <a:off x="731520" y="4251960"/>
            <a:ext cx="548280" cy="548280"/>
          </a:xfrm>
          <a:prstGeom prst="ellipse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12"/>
          <p:cNvSpPr/>
          <p:nvPr/>
        </p:nvSpPr>
        <p:spPr>
          <a:xfrm>
            <a:off x="731520" y="42519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7191c"/>
                </a:solidFill>
                <a:latin typeface="Trebuchet MS"/>
                <a:ea typeface="Trebuchet MS"/>
              </a:rPr>
              <a:t>3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83" name="Text 13"/>
          <p:cNvSpPr/>
          <p:nvPr/>
        </p:nvSpPr>
        <p:spPr>
          <a:xfrm>
            <a:off x="1508760" y="421524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5f7fa"/>
                </a:solidFill>
                <a:latin typeface="Trebuchet MS"/>
                <a:ea typeface="Trebuchet MS"/>
              </a:rPr>
              <a:t>Then LCFS, SJF, and MLFQ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84" name="Text 14"/>
          <p:cNvSpPr/>
          <p:nvPr/>
        </p:nvSpPr>
        <p:spPr>
          <a:xfrm>
            <a:off x="1508760" y="4636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2acb6"/>
                </a:solidFill>
                <a:latin typeface="Calibri"/>
                <a:ea typeface="Calibri"/>
              </a:rPr>
              <a:t>The same callback structure each time. Only the choice of the next job changes.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85" name="Shape 15"/>
          <p:cNvSpPr/>
          <p:nvPr/>
        </p:nvSpPr>
        <p:spPr>
          <a:xfrm>
            <a:off x="731520" y="5230440"/>
            <a:ext cx="10698120" cy="1462680"/>
          </a:xfrm>
          <a:prstGeom prst="rect">
            <a:avLst/>
          </a:prstGeom>
          <a:solidFill>
            <a:srgbClr val="101216"/>
          </a:solidFill>
          <a:ln w="12700">
            <a:solidFill>
              <a:srgbClr val="32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16"/>
          <p:cNvSpPr/>
          <p:nvPr/>
        </p:nvSpPr>
        <p:spPr>
          <a:xfrm>
            <a:off x="1051560" y="5349240"/>
            <a:ext cx="102409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make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./linked_list_test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./simulator traces/FCFS_1.csv out.csv FCFS     # last argument picks the policy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diff out.csv traces/FCFS_1.csv.expected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bc96f"/>
                </a:solidFill>
                <a:latin typeface="Consolas"/>
                <a:ea typeface="Consolas"/>
              </a:rPr>
              <a:t>make test                                  # every public trace, under Valgrind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f0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Text 1"/>
          <p:cNvSpPr/>
          <p:nvPr/>
        </p:nvSpPr>
        <p:spPr>
          <a:xfrm>
            <a:off x="1051560" y="228600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54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5f7fa"/>
                </a:solidFill>
                <a:latin typeface="Trebuchet MS"/>
                <a:ea typeface="Trebuchet MS"/>
              </a:rPr>
              <a:t>Read the README before you start coding.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489" name="Text 2"/>
          <p:cNvSpPr/>
          <p:nvPr/>
        </p:nvSpPr>
        <p:spPr>
          <a:xfrm>
            <a:off x="1051560" y="374904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a2acb6"/>
                </a:solidFill>
                <a:latin typeface="Calibri"/>
                <a:ea typeface="Calibri"/>
              </a:rPr>
              <a:t>The public traces are samples, not the grading set: grading adds instructor traces with edge cases. Half your grade is correctness, half is memory.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1051560" y="48006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0a93b"/>
                </a:solidFill>
                <a:latin typeface="Trebuchet MS"/>
                <a:ea typeface="Trebuchet MS"/>
              </a:rPr>
              <a:t>Two things score zero: code that does not build, and work you never pushed as you went.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1051560" y="53492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2acb6"/>
                </a:solidFill>
                <a:latin typeface="Calibri"/>
                <a:ea typeface="Calibri"/>
              </a:rPr>
              <a:t>Submit the commit hash on Canvas. Questions go to office hours or Canvas, with your GitHub link.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2026-09-14T16:06:54Z</dcterms:created>
  <dc:creator>CMPSC 473</dc:creator>
  <dc:description/>
  <dc:language>en-US</dc:language>
  <cp:lastModifiedBy/>
  <dcterms:modified xsi:type="dcterms:W3CDTF">2026-09-14T12:48:21Z</dcterms:modified>
  <cp:revision>2</cp:revision>
  <dc:subject>PptxGenJS Presentation</dc:subject>
  <dc:title>Project 2: Scheduling Simulator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